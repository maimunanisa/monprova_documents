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73" r:id="rId3"/>
    <p:sldId id="271" r:id="rId4"/>
    <p:sldId id="272" r:id="rId5"/>
    <p:sldId id="258" r:id="rId6"/>
    <p:sldId id="259" r:id="rId7"/>
    <p:sldId id="260" r:id="rId8"/>
    <p:sldId id="265" r:id="rId9"/>
    <p:sldId id="275" r:id="rId10"/>
  </p:sldIdLst>
  <p:sldSz cx="14630400" cy="8229600"/>
  <p:notesSz cx="8229600" cy="14630400"/>
  <p:embeddedFontLst>
    <p:embeddedFont>
      <p:font typeface="Poppins" panose="00000500000000000000" pitchFamily="2" charset="0"/>
      <p:regular r:id="rId12"/>
      <p:bold r:id="rId13"/>
    </p:embeddedFont>
    <p:embeddedFont>
      <p:font typeface="Poppins Bold" panose="00000800000000000000" charset="0"/>
      <p:bold r:id="rId14"/>
    </p:embeddedFont>
  </p:embeddedFontLst>
  <p:defaultTextStyle>
    <a:defPPr>
      <a:defRPr lang="b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95033" autoAdjust="0"/>
  </p:normalViewPr>
  <p:slideViewPr>
    <p:cSldViewPr snapToGrid="0" snapToObjects="1">
      <p:cViewPr>
        <p:scale>
          <a:sx n="68" d="100"/>
          <a:sy n="68" d="100"/>
        </p:scale>
        <p:origin x="835"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2255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4701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770535" y="1176330"/>
            <a:ext cx="10706219" cy="708779"/>
          </a:xfrm>
          <a:prstGeom prst="rect">
            <a:avLst/>
          </a:prstGeom>
          <a:noFill/>
          <a:ln/>
        </p:spPr>
        <p:txBody>
          <a:bodyPr wrap="none" lIns="0" tIns="0" rIns="0" bIns="0" rtlCol="0" anchor="t"/>
          <a:lstStyle/>
          <a:p>
            <a:pPr marL="0" indent="0" algn="ctr">
              <a:lnSpc>
                <a:spcPts val="5550"/>
              </a:lnSpc>
              <a:buNone/>
            </a:pPr>
            <a:r>
              <a:rPr lang="en-US" sz="4450" b="1" dirty="0" err="1">
                <a:solidFill>
                  <a:srgbClr val="000000"/>
                </a:solidFill>
                <a:latin typeface="Poppins Bold" pitchFamily="34" charset="0"/>
                <a:ea typeface="Poppins Bold" pitchFamily="34" charset="-122"/>
                <a:cs typeface="Poppins Bold" pitchFamily="34" charset="-120"/>
              </a:rPr>
              <a:t>MonProva</a:t>
            </a:r>
            <a:endParaRPr lang="en-US" sz="4450" dirty="0"/>
          </a:p>
        </p:txBody>
      </p:sp>
      <p:sp>
        <p:nvSpPr>
          <p:cNvPr id="3" name="Text 1"/>
          <p:cNvSpPr/>
          <p:nvPr/>
        </p:nvSpPr>
        <p:spPr>
          <a:xfrm>
            <a:off x="754822" y="2107926"/>
            <a:ext cx="13042821" cy="362903"/>
          </a:xfrm>
          <a:prstGeom prst="rect">
            <a:avLst/>
          </a:prstGeom>
          <a:noFill/>
          <a:ln/>
        </p:spPr>
        <p:txBody>
          <a:bodyPr wrap="none" lIns="0" tIns="0" rIns="0" bIns="0" rtlCol="0" anchor="t"/>
          <a:lstStyle/>
          <a:p>
            <a:pPr marL="0" indent="0" algn="ctr">
              <a:lnSpc>
                <a:spcPts val="2850"/>
              </a:lnSpc>
              <a:buNone/>
            </a:pPr>
            <a:r>
              <a:rPr lang="en-US" sz="2800" dirty="0">
                <a:solidFill>
                  <a:srgbClr val="000000"/>
                </a:solidFill>
                <a:latin typeface="Poppins" pitchFamily="34" charset="0"/>
                <a:cs typeface="Poppins" pitchFamily="34" charset="-120"/>
              </a:rPr>
              <a:t>Empowering your journey to Mental Wellness</a:t>
            </a:r>
            <a:endParaRPr lang="en-US" sz="2800" dirty="0"/>
          </a:p>
        </p:txBody>
      </p:sp>
      <p:sp>
        <p:nvSpPr>
          <p:cNvPr id="7" name="TextBox 6">
            <a:extLst>
              <a:ext uri="{FF2B5EF4-FFF2-40B4-BE49-F238E27FC236}">
                <a16:creationId xmlns:a16="http://schemas.microsoft.com/office/drawing/2014/main" id="{80FDC367-A55E-23FB-4459-3FD5B7861F50}"/>
              </a:ext>
            </a:extLst>
          </p:cNvPr>
          <p:cNvSpPr txBox="1"/>
          <p:nvPr/>
        </p:nvSpPr>
        <p:spPr>
          <a:xfrm>
            <a:off x="1219817" y="5313050"/>
            <a:ext cx="7315200" cy="1740220"/>
          </a:xfrm>
          <a:prstGeom prst="rect">
            <a:avLst/>
          </a:prstGeom>
          <a:noFill/>
        </p:spPr>
        <p:txBody>
          <a:bodyPr wrap="square">
            <a:spAutoFit/>
          </a:bodyPr>
          <a:lstStyle/>
          <a:p>
            <a:pPr>
              <a:lnSpc>
                <a:spcPts val="3300"/>
              </a:lnSpc>
              <a:buNone/>
            </a:pPr>
            <a:r>
              <a:rPr lang="en-US" b="1" i="0" dirty="0">
                <a:effectLst/>
                <a:latin typeface="YAFdJjbTu24_1"/>
              </a:rPr>
              <a:t>Course Code: SE 3112</a:t>
            </a:r>
            <a:endParaRPr lang="en-US" dirty="0">
              <a:effectLst/>
              <a:latin typeface="YAFdJjbTu24_1"/>
            </a:endParaRPr>
          </a:p>
          <a:p>
            <a:pPr>
              <a:lnSpc>
                <a:spcPts val="3300"/>
              </a:lnSpc>
              <a:buNone/>
            </a:pPr>
            <a:r>
              <a:rPr lang="en-US" b="1" i="0" dirty="0">
                <a:effectLst/>
                <a:latin typeface="YAFdJjbTu24_1"/>
              </a:rPr>
              <a:t>Course Name: Software Project LAB II</a:t>
            </a:r>
            <a:endParaRPr lang="en-US" dirty="0">
              <a:effectLst/>
              <a:latin typeface="YAFdJjbTu24_1"/>
            </a:endParaRPr>
          </a:p>
          <a:p>
            <a:pPr>
              <a:lnSpc>
                <a:spcPts val="3300"/>
              </a:lnSpc>
              <a:buNone/>
            </a:pPr>
            <a:r>
              <a:rPr lang="en-US" b="1" i="0" dirty="0">
                <a:effectLst/>
                <a:latin typeface="YAFdJjbTu24_1"/>
              </a:rPr>
              <a:t>Session: 2021-2022</a:t>
            </a:r>
            <a:endParaRPr lang="en-US" dirty="0">
              <a:effectLst/>
              <a:latin typeface="YAFdJjbTu24_1"/>
            </a:endParaRPr>
          </a:p>
          <a:p>
            <a:pPr>
              <a:lnSpc>
                <a:spcPts val="3300"/>
              </a:lnSpc>
              <a:buNone/>
            </a:pPr>
            <a:r>
              <a:rPr lang="en-US" b="1" i="0" dirty="0">
                <a:effectLst/>
                <a:latin typeface="YAFdJjbTu24_1"/>
              </a:rPr>
              <a:t>Date: 12 January, 2026</a:t>
            </a:r>
            <a:endParaRPr lang="en-US" dirty="0">
              <a:effectLst/>
              <a:latin typeface="YAFdJjbTu24_1"/>
            </a:endParaRPr>
          </a:p>
        </p:txBody>
      </p:sp>
      <p:sp>
        <p:nvSpPr>
          <p:cNvPr id="4" name="Rectangle 3">
            <a:extLst>
              <a:ext uri="{FF2B5EF4-FFF2-40B4-BE49-F238E27FC236}">
                <a16:creationId xmlns:a16="http://schemas.microsoft.com/office/drawing/2014/main" id="{2F58B688-172D-EA8C-D504-DF8DB445631D}"/>
              </a:ext>
            </a:extLst>
          </p:cNvPr>
          <p:cNvSpPr/>
          <p:nvPr/>
        </p:nvSpPr>
        <p:spPr>
          <a:xfrm>
            <a:off x="12801600" y="7652657"/>
            <a:ext cx="1992086" cy="576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13">
            <a:extLst>
              <a:ext uri="{FF2B5EF4-FFF2-40B4-BE49-F238E27FC236}">
                <a16:creationId xmlns:a16="http://schemas.microsoft.com/office/drawing/2014/main" id="{D940296B-10CE-D756-911E-75602A005E50}"/>
              </a:ext>
            </a:extLst>
          </p:cNvPr>
          <p:cNvSpPr/>
          <p:nvPr/>
        </p:nvSpPr>
        <p:spPr>
          <a:xfrm>
            <a:off x="5168432" y="1940752"/>
            <a:ext cx="4293537" cy="4348098"/>
          </a:xfrm>
          <a:custGeom>
            <a:avLst/>
            <a:gdLst/>
            <a:ahLst/>
            <a:cxnLst/>
            <a:rect l="l" t="t" r="r" b="b"/>
            <a:pathLst>
              <a:path w="5366921" h="5435123">
                <a:moveTo>
                  <a:pt x="0" y="0"/>
                </a:moveTo>
                <a:lnTo>
                  <a:pt x="5366922" y="0"/>
                </a:lnTo>
                <a:lnTo>
                  <a:pt x="5366922" y="5435122"/>
                </a:lnTo>
                <a:lnTo>
                  <a:pt x="0" y="5435122"/>
                </a:lnTo>
                <a:lnTo>
                  <a:pt x="0" y="0"/>
                </a:lnTo>
                <a:close/>
              </a:path>
            </a:pathLst>
          </a:custGeom>
          <a:blipFill>
            <a:blip r:embed="rId3">
              <a:alphaModFix amt="9999"/>
            </a:blip>
            <a:stretch>
              <a:fillRect l="-59980" t="-58043" r="-59980" b="-59157"/>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070744" y="-1396926"/>
            <a:ext cx="1736696" cy="173669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1D75"/>
            </a:solidFill>
          </p:spPr>
        </p:sp>
        <p:sp>
          <p:nvSpPr>
            <p:cNvPr id="4" name="TextBox 4"/>
            <p:cNvSpPr txBox="1"/>
            <p:nvPr/>
          </p:nvSpPr>
          <p:spPr>
            <a:xfrm>
              <a:off x="76200" y="28575"/>
              <a:ext cx="660400" cy="708025"/>
            </a:xfrm>
            <a:prstGeom prst="rect">
              <a:avLst/>
            </a:prstGeom>
          </p:spPr>
          <p:txBody>
            <a:bodyPr lIns="40640" tIns="40640" rIns="40640" bIns="40640" rtlCol="0" anchor="ctr"/>
            <a:lstStyle/>
            <a:p>
              <a:pPr algn="ctr">
                <a:lnSpc>
                  <a:spcPts val="2127"/>
                </a:lnSpc>
              </a:pPr>
              <a:endParaRPr sz="1440"/>
            </a:p>
          </p:txBody>
        </p:sp>
      </p:grpSp>
      <p:grpSp>
        <p:nvGrpSpPr>
          <p:cNvPr id="5" name="Group 5"/>
          <p:cNvGrpSpPr/>
          <p:nvPr/>
        </p:nvGrpSpPr>
        <p:grpSpPr>
          <a:xfrm>
            <a:off x="8245315" y="7568015"/>
            <a:ext cx="1736696" cy="173669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1D75"/>
            </a:solidFill>
          </p:spPr>
        </p:sp>
        <p:sp>
          <p:nvSpPr>
            <p:cNvPr id="7" name="TextBox 7"/>
            <p:cNvSpPr txBox="1"/>
            <p:nvPr/>
          </p:nvSpPr>
          <p:spPr>
            <a:xfrm>
              <a:off x="76200" y="28575"/>
              <a:ext cx="660400" cy="708025"/>
            </a:xfrm>
            <a:prstGeom prst="rect">
              <a:avLst/>
            </a:prstGeom>
          </p:spPr>
          <p:txBody>
            <a:bodyPr lIns="40640" tIns="40640" rIns="40640" bIns="40640" rtlCol="0" anchor="ctr"/>
            <a:lstStyle/>
            <a:p>
              <a:pPr algn="ctr">
                <a:lnSpc>
                  <a:spcPts val="2127"/>
                </a:lnSpc>
              </a:pPr>
              <a:endParaRPr sz="1440"/>
            </a:p>
          </p:txBody>
        </p:sp>
      </p:grpSp>
      <p:sp>
        <p:nvSpPr>
          <p:cNvPr id="8" name="TextBox 8"/>
          <p:cNvSpPr txBox="1"/>
          <p:nvPr/>
        </p:nvSpPr>
        <p:spPr>
          <a:xfrm>
            <a:off x="4555244" y="708660"/>
            <a:ext cx="5519913" cy="657231"/>
          </a:xfrm>
          <a:prstGeom prst="rect">
            <a:avLst/>
          </a:prstGeom>
        </p:spPr>
        <p:txBody>
          <a:bodyPr lIns="0" tIns="0" rIns="0" bIns="0" rtlCol="0" anchor="t">
            <a:spAutoFit/>
          </a:bodyPr>
          <a:lstStyle/>
          <a:p>
            <a:pPr algn="ctr">
              <a:lnSpc>
                <a:spcPts val="5375"/>
              </a:lnSpc>
              <a:spcBef>
                <a:spcPct val="0"/>
              </a:spcBef>
            </a:pPr>
            <a:r>
              <a:rPr lang="en-US" sz="3840" b="1">
                <a:solidFill>
                  <a:srgbClr val="545454"/>
                </a:solidFill>
                <a:latin typeface="Poppins Bold"/>
                <a:ea typeface="Poppins Bold"/>
                <a:cs typeface="Poppins Bold"/>
                <a:sym typeface="Poppins Bold"/>
              </a:rPr>
              <a:t>Presented By</a:t>
            </a:r>
          </a:p>
        </p:txBody>
      </p:sp>
      <p:sp>
        <p:nvSpPr>
          <p:cNvPr id="9" name="TextBox 9"/>
          <p:cNvSpPr txBox="1"/>
          <p:nvPr/>
        </p:nvSpPr>
        <p:spPr>
          <a:xfrm>
            <a:off x="1096191" y="2296327"/>
            <a:ext cx="3894736" cy="849207"/>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Shamim Mozumder</a:t>
            </a:r>
          </a:p>
          <a:p>
            <a:pPr algn="ctr">
              <a:lnSpc>
                <a:spcPts val="3360"/>
              </a:lnSpc>
              <a:spcBef>
                <a:spcPct val="0"/>
              </a:spcBef>
            </a:pPr>
            <a:r>
              <a:rPr lang="en-US" sz="2400">
                <a:solidFill>
                  <a:srgbClr val="000000"/>
                </a:solidFill>
                <a:latin typeface="Poppins"/>
                <a:ea typeface="Poppins"/>
                <a:cs typeface="Poppins"/>
                <a:sym typeface="Poppins"/>
              </a:rPr>
              <a:t>ID: MUH2225020M</a:t>
            </a:r>
          </a:p>
        </p:txBody>
      </p:sp>
      <p:sp>
        <p:nvSpPr>
          <p:cNvPr id="10" name="TextBox 10"/>
          <p:cNvSpPr txBox="1"/>
          <p:nvPr/>
        </p:nvSpPr>
        <p:spPr>
          <a:xfrm>
            <a:off x="9431820" y="2296327"/>
            <a:ext cx="3894736" cy="849207"/>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Maimuna Tun Nisa</a:t>
            </a:r>
          </a:p>
          <a:p>
            <a:pPr algn="ctr">
              <a:lnSpc>
                <a:spcPts val="3360"/>
              </a:lnSpc>
              <a:spcBef>
                <a:spcPct val="0"/>
              </a:spcBef>
            </a:pPr>
            <a:r>
              <a:rPr lang="en-US" sz="2400">
                <a:solidFill>
                  <a:srgbClr val="000000"/>
                </a:solidFill>
                <a:latin typeface="Poppins"/>
                <a:ea typeface="Poppins"/>
                <a:cs typeface="Poppins"/>
                <a:sym typeface="Poppins"/>
              </a:rPr>
              <a:t>ID: BFH2225024F</a:t>
            </a:r>
          </a:p>
        </p:txBody>
      </p:sp>
      <p:sp>
        <p:nvSpPr>
          <p:cNvPr id="11" name="TextBox 11"/>
          <p:cNvSpPr txBox="1"/>
          <p:nvPr/>
        </p:nvSpPr>
        <p:spPr>
          <a:xfrm>
            <a:off x="1303844" y="5003633"/>
            <a:ext cx="3894736" cy="849207"/>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Md. Tanjim Arafat</a:t>
            </a:r>
          </a:p>
          <a:p>
            <a:pPr algn="ctr">
              <a:lnSpc>
                <a:spcPts val="3360"/>
              </a:lnSpc>
              <a:spcBef>
                <a:spcPct val="0"/>
              </a:spcBef>
            </a:pPr>
            <a:r>
              <a:rPr lang="en-US" sz="2400">
                <a:solidFill>
                  <a:srgbClr val="000000"/>
                </a:solidFill>
                <a:latin typeface="Poppins"/>
                <a:ea typeface="Poppins"/>
                <a:cs typeface="Poppins"/>
                <a:sym typeface="Poppins"/>
              </a:rPr>
              <a:t>ID: ASH2225026M</a:t>
            </a:r>
          </a:p>
        </p:txBody>
      </p:sp>
      <p:sp>
        <p:nvSpPr>
          <p:cNvPr id="12" name="TextBox 12"/>
          <p:cNvSpPr txBox="1"/>
          <p:nvPr/>
        </p:nvSpPr>
        <p:spPr>
          <a:xfrm>
            <a:off x="9639473" y="5003633"/>
            <a:ext cx="3894736" cy="849207"/>
          </a:xfrm>
          <a:prstGeom prst="rect">
            <a:avLst/>
          </a:prstGeom>
        </p:spPr>
        <p:txBody>
          <a:bodyPr lIns="0" tIns="0" rIns="0" bIns="0" rtlCol="0" anchor="t">
            <a:spAutoFit/>
          </a:bodyPr>
          <a:lstStyle/>
          <a:p>
            <a:pPr algn="ctr">
              <a:lnSpc>
                <a:spcPts val="3360"/>
              </a:lnSpc>
            </a:pPr>
            <a:r>
              <a:rPr lang="en-US" sz="2400">
                <a:solidFill>
                  <a:srgbClr val="000000"/>
                </a:solidFill>
                <a:latin typeface="Poppins"/>
                <a:ea typeface="Poppins"/>
                <a:cs typeface="Poppins"/>
                <a:sym typeface="Poppins"/>
              </a:rPr>
              <a:t>Md. Salman Khan</a:t>
            </a:r>
          </a:p>
          <a:p>
            <a:pPr algn="ctr">
              <a:lnSpc>
                <a:spcPts val="3360"/>
              </a:lnSpc>
              <a:spcBef>
                <a:spcPct val="0"/>
              </a:spcBef>
            </a:pPr>
            <a:r>
              <a:rPr lang="en-US" sz="2400">
                <a:solidFill>
                  <a:srgbClr val="000000"/>
                </a:solidFill>
                <a:latin typeface="Poppins"/>
                <a:ea typeface="Poppins"/>
                <a:cs typeface="Poppins"/>
                <a:sym typeface="Poppins"/>
              </a:rPr>
              <a:t>ID: MUH2225027M</a:t>
            </a:r>
          </a:p>
        </p:txBody>
      </p:sp>
      <p:sp>
        <p:nvSpPr>
          <p:cNvPr id="13" name="Freeform 13"/>
          <p:cNvSpPr/>
          <p:nvPr/>
        </p:nvSpPr>
        <p:spPr>
          <a:xfrm>
            <a:off x="5168432" y="1940752"/>
            <a:ext cx="4293537" cy="4348098"/>
          </a:xfrm>
          <a:custGeom>
            <a:avLst/>
            <a:gdLst/>
            <a:ahLst/>
            <a:cxnLst/>
            <a:rect l="l" t="t" r="r" b="b"/>
            <a:pathLst>
              <a:path w="5366921" h="5435123">
                <a:moveTo>
                  <a:pt x="0" y="0"/>
                </a:moveTo>
                <a:lnTo>
                  <a:pt x="5366922" y="0"/>
                </a:lnTo>
                <a:lnTo>
                  <a:pt x="5366922" y="5435122"/>
                </a:lnTo>
                <a:lnTo>
                  <a:pt x="0" y="5435122"/>
                </a:lnTo>
                <a:lnTo>
                  <a:pt x="0" y="0"/>
                </a:lnTo>
                <a:close/>
              </a:path>
            </a:pathLst>
          </a:custGeom>
          <a:blipFill>
            <a:blip r:embed="rId2">
              <a:alphaModFix amt="9999"/>
            </a:blip>
            <a:stretch>
              <a:fillRect l="-59980" t="-58043" r="-59980" b="-59157"/>
            </a:stretch>
          </a:blipFill>
        </p:spPr>
      </p:sp>
      <p:sp>
        <p:nvSpPr>
          <p:cNvPr id="16" name="Slide Number Placeholder 15">
            <a:extLst>
              <a:ext uri="{FF2B5EF4-FFF2-40B4-BE49-F238E27FC236}">
                <a16:creationId xmlns:a16="http://schemas.microsoft.com/office/drawing/2014/main" id="{20149339-7955-F914-3BAA-3D6B08BE5588}"/>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17" name="TextBox 12">
            <a:extLst>
              <a:ext uri="{FF2B5EF4-FFF2-40B4-BE49-F238E27FC236}">
                <a16:creationId xmlns:a16="http://schemas.microsoft.com/office/drawing/2014/main" id="{7F807D83-AAAB-EED2-95F4-9210D7305E83}"/>
              </a:ext>
            </a:extLst>
          </p:cNvPr>
          <p:cNvSpPr txBox="1"/>
          <p:nvPr/>
        </p:nvSpPr>
        <p:spPr>
          <a:xfrm>
            <a:off x="12698873" y="7410527"/>
            <a:ext cx="1403151" cy="328551"/>
          </a:xfrm>
          <a:prstGeom prst="rect">
            <a:avLst/>
          </a:prstGeom>
        </p:spPr>
        <p:txBody>
          <a:bodyPr lIns="0" tIns="0" rIns="0" bIns="0" rtlCol="0" anchor="t">
            <a:spAutoFit/>
          </a:bodyPr>
          <a:lstStyle/>
          <a:p>
            <a:pPr algn="ctr">
              <a:lnSpc>
                <a:spcPts val="2687"/>
              </a:lnSpc>
              <a:spcBef>
                <a:spcPct val="0"/>
              </a:spcBef>
            </a:pPr>
            <a:r>
              <a:rPr lang="en-US" sz="1919" b="1" dirty="0">
                <a:solidFill>
                  <a:srgbClr val="545454"/>
                </a:solidFill>
                <a:latin typeface="Poppins Bold"/>
                <a:ea typeface="Poppins Bold"/>
                <a:cs typeface="Poppins Bold"/>
                <a:sym typeface="Poppins Bold"/>
              </a:rPr>
              <a:t>12/1/2026</a:t>
            </a:r>
          </a:p>
        </p:txBody>
      </p:sp>
      <p:sp>
        <p:nvSpPr>
          <p:cNvPr id="18" name="TextBox 17">
            <a:extLst>
              <a:ext uri="{FF2B5EF4-FFF2-40B4-BE49-F238E27FC236}">
                <a16:creationId xmlns:a16="http://schemas.microsoft.com/office/drawing/2014/main" id="{4F9EECE6-04BC-6AA5-7C0E-40A8C0D258ED}"/>
              </a:ext>
            </a:extLst>
          </p:cNvPr>
          <p:cNvSpPr txBox="1"/>
          <p:nvPr/>
        </p:nvSpPr>
        <p:spPr>
          <a:xfrm>
            <a:off x="307001" y="7581698"/>
            <a:ext cx="442750" cy="400110"/>
          </a:xfrm>
          <a:prstGeom prst="rect">
            <a:avLst/>
          </a:prstGeom>
          <a:noFill/>
        </p:spPr>
        <p:txBody>
          <a:bodyPr wrap="none" rtlCol="0">
            <a:spAutoFit/>
          </a:bodyPr>
          <a:lstStyle/>
          <a:p>
            <a:r>
              <a:rPr lang="en-US" sz="2000" b="1" dirty="0"/>
              <a:t>#1</a:t>
            </a:r>
            <a:endParaRPr lang="bn-BD" sz="2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8348" y="-868348"/>
            <a:ext cx="1736696" cy="173669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754F"/>
            </a:solidFill>
          </p:spPr>
        </p:sp>
        <p:sp>
          <p:nvSpPr>
            <p:cNvPr id="4" name="TextBox 4"/>
            <p:cNvSpPr txBox="1"/>
            <p:nvPr/>
          </p:nvSpPr>
          <p:spPr>
            <a:xfrm>
              <a:off x="76200" y="28575"/>
              <a:ext cx="660400" cy="708025"/>
            </a:xfrm>
            <a:prstGeom prst="rect">
              <a:avLst/>
            </a:prstGeom>
          </p:spPr>
          <p:txBody>
            <a:bodyPr lIns="40640" tIns="40640" rIns="40640" bIns="40640" rtlCol="0" anchor="ctr"/>
            <a:lstStyle/>
            <a:p>
              <a:pPr algn="ctr">
                <a:lnSpc>
                  <a:spcPts val="2127"/>
                </a:lnSpc>
              </a:pPr>
              <a:endParaRPr sz="1440"/>
            </a:p>
          </p:txBody>
        </p:sp>
      </p:grpSp>
      <p:grpSp>
        <p:nvGrpSpPr>
          <p:cNvPr id="5" name="Group 5"/>
          <p:cNvGrpSpPr/>
          <p:nvPr/>
        </p:nvGrpSpPr>
        <p:grpSpPr>
          <a:xfrm>
            <a:off x="3244101" y="7678022"/>
            <a:ext cx="1736696" cy="173669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0754F"/>
            </a:solidFill>
          </p:spPr>
        </p:sp>
        <p:sp>
          <p:nvSpPr>
            <p:cNvPr id="7" name="TextBox 7"/>
            <p:cNvSpPr txBox="1"/>
            <p:nvPr/>
          </p:nvSpPr>
          <p:spPr>
            <a:xfrm>
              <a:off x="76200" y="28575"/>
              <a:ext cx="660400" cy="708025"/>
            </a:xfrm>
            <a:prstGeom prst="rect">
              <a:avLst/>
            </a:prstGeom>
          </p:spPr>
          <p:txBody>
            <a:bodyPr lIns="40640" tIns="40640" rIns="40640" bIns="40640" rtlCol="0" anchor="ctr"/>
            <a:lstStyle/>
            <a:p>
              <a:pPr algn="ctr">
                <a:lnSpc>
                  <a:spcPts val="2127"/>
                </a:lnSpc>
              </a:pPr>
              <a:endParaRPr sz="1440"/>
            </a:p>
          </p:txBody>
        </p:sp>
      </p:grpSp>
      <p:sp>
        <p:nvSpPr>
          <p:cNvPr id="8" name="TextBox 8"/>
          <p:cNvSpPr txBox="1"/>
          <p:nvPr/>
        </p:nvSpPr>
        <p:spPr>
          <a:xfrm>
            <a:off x="4555244" y="708660"/>
            <a:ext cx="5519913" cy="657231"/>
          </a:xfrm>
          <a:prstGeom prst="rect">
            <a:avLst/>
          </a:prstGeom>
        </p:spPr>
        <p:txBody>
          <a:bodyPr lIns="0" tIns="0" rIns="0" bIns="0" rtlCol="0" anchor="t">
            <a:spAutoFit/>
          </a:bodyPr>
          <a:lstStyle/>
          <a:p>
            <a:pPr algn="ctr">
              <a:lnSpc>
                <a:spcPts val="5375"/>
              </a:lnSpc>
              <a:spcBef>
                <a:spcPct val="0"/>
              </a:spcBef>
            </a:pPr>
            <a:r>
              <a:rPr lang="en-US" sz="3840" b="1">
                <a:solidFill>
                  <a:srgbClr val="545454"/>
                </a:solidFill>
                <a:latin typeface="Poppins Bold"/>
                <a:ea typeface="Poppins Bold"/>
                <a:cs typeface="Poppins Bold"/>
                <a:sym typeface="Poppins Bold"/>
              </a:rPr>
              <a:t>Introduction</a:t>
            </a:r>
          </a:p>
        </p:txBody>
      </p:sp>
      <p:sp>
        <p:nvSpPr>
          <p:cNvPr id="9" name="TextBox 9"/>
          <p:cNvSpPr txBox="1"/>
          <p:nvPr/>
        </p:nvSpPr>
        <p:spPr>
          <a:xfrm>
            <a:off x="1555667" y="1784309"/>
            <a:ext cx="11699346" cy="3129575"/>
          </a:xfrm>
          <a:prstGeom prst="rect">
            <a:avLst/>
          </a:prstGeom>
        </p:spPr>
        <p:txBody>
          <a:bodyPr lIns="0" tIns="0" rIns="0" bIns="0" rtlCol="0" anchor="t">
            <a:spAutoFit/>
          </a:bodyPr>
          <a:lstStyle/>
          <a:p>
            <a:pPr algn="just">
              <a:lnSpc>
                <a:spcPts val="4144"/>
              </a:lnSpc>
              <a:spcBef>
                <a:spcPct val="0"/>
              </a:spcBef>
            </a:pPr>
            <a:r>
              <a:rPr lang="en-US" sz="2960" dirty="0" err="1">
                <a:solidFill>
                  <a:srgbClr val="545454"/>
                </a:solidFill>
                <a:latin typeface="Poppins"/>
                <a:ea typeface="Poppins"/>
                <a:cs typeface="Poppins"/>
                <a:sym typeface="Poppins"/>
              </a:rPr>
              <a:t>MonProva</a:t>
            </a:r>
            <a:r>
              <a:rPr lang="en-US" sz="2960" dirty="0">
                <a:solidFill>
                  <a:srgbClr val="545454"/>
                </a:solidFill>
                <a:latin typeface="Poppins"/>
                <a:ea typeface="Poppins"/>
                <a:cs typeface="Poppins"/>
                <a:sym typeface="Poppins"/>
              </a:rPr>
              <a:t> (</a:t>
            </a:r>
            <a:r>
              <a:rPr lang="en-US" sz="2960" dirty="0" err="1">
                <a:solidFill>
                  <a:srgbClr val="545454"/>
                </a:solidFill>
                <a:latin typeface="Poppins"/>
                <a:ea typeface="Poppins"/>
                <a:cs typeface="Poppins"/>
                <a:sym typeface="Poppins"/>
              </a:rPr>
              <a:t>মনপ্রভা</a:t>
            </a:r>
            <a:r>
              <a:rPr lang="en-US" sz="2960" dirty="0">
                <a:solidFill>
                  <a:srgbClr val="545454"/>
                </a:solidFill>
                <a:latin typeface="Poppins"/>
                <a:ea typeface="Poppins"/>
                <a:cs typeface="Poppins"/>
                <a:sym typeface="Poppins"/>
              </a:rPr>
              <a:t>) is a digital mental health support platform designed to provide accessible and reliable wellness solutions. It helps users address challenges such as limited awareness, lack of timely support, and difficulty in maintaining consistent mental health practices.</a:t>
            </a:r>
          </a:p>
          <a:p>
            <a:pPr algn="just">
              <a:lnSpc>
                <a:spcPts val="4144"/>
              </a:lnSpc>
              <a:spcBef>
                <a:spcPct val="0"/>
              </a:spcBef>
            </a:pPr>
            <a:endParaRPr lang="en-US" sz="2960" dirty="0">
              <a:solidFill>
                <a:srgbClr val="545454"/>
              </a:solidFill>
              <a:latin typeface="Poppins"/>
              <a:ea typeface="Poppins"/>
              <a:cs typeface="Poppins"/>
              <a:sym typeface="Poppins"/>
            </a:endParaRPr>
          </a:p>
        </p:txBody>
      </p:sp>
      <p:sp>
        <p:nvSpPr>
          <p:cNvPr id="10" name="Freeform 10"/>
          <p:cNvSpPr/>
          <p:nvPr/>
        </p:nvSpPr>
        <p:spPr>
          <a:xfrm>
            <a:off x="5168432" y="1940752"/>
            <a:ext cx="4293537" cy="4348098"/>
          </a:xfrm>
          <a:custGeom>
            <a:avLst/>
            <a:gdLst/>
            <a:ahLst/>
            <a:cxnLst/>
            <a:rect l="l" t="t" r="r" b="b"/>
            <a:pathLst>
              <a:path w="5366921" h="5435123">
                <a:moveTo>
                  <a:pt x="0" y="0"/>
                </a:moveTo>
                <a:lnTo>
                  <a:pt x="5366922" y="0"/>
                </a:lnTo>
                <a:lnTo>
                  <a:pt x="5366922" y="5435122"/>
                </a:lnTo>
                <a:lnTo>
                  <a:pt x="0" y="5435122"/>
                </a:lnTo>
                <a:lnTo>
                  <a:pt x="0" y="0"/>
                </a:lnTo>
                <a:close/>
              </a:path>
            </a:pathLst>
          </a:custGeom>
          <a:blipFill>
            <a:blip r:embed="rId2">
              <a:alphaModFix amt="9999"/>
            </a:blip>
            <a:stretch>
              <a:fillRect l="-59980" t="-58043" r="-59980" b="-59157"/>
            </a:stretch>
          </a:blipFill>
        </p:spPr>
      </p:sp>
      <p:sp>
        <p:nvSpPr>
          <p:cNvPr id="12" name="TextBox 12"/>
          <p:cNvSpPr txBox="1"/>
          <p:nvPr/>
        </p:nvSpPr>
        <p:spPr>
          <a:xfrm>
            <a:off x="12698873" y="7410527"/>
            <a:ext cx="1403151" cy="328551"/>
          </a:xfrm>
          <a:prstGeom prst="rect">
            <a:avLst/>
          </a:prstGeom>
        </p:spPr>
        <p:txBody>
          <a:bodyPr lIns="0" tIns="0" rIns="0" bIns="0" rtlCol="0" anchor="t">
            <a:spAutoFit/>
          </a:bodyPr>
          <a:lstStyle/>
          <a:p>
            <a:pPr algn="ctr">
              <a:lnSpc>
                <a:spcPts val="2687"/>
              </a:lnSpc>
              <a:spcBef>
                <a:spcPct val="0"/>
              </a:spcBef>
            </a:pPr>
            <a:r>
              <a:rPr lang="en-US" sz="1919" b="1" dirty="0">
                <a:solidFill>
                  <a:srgbClr val="545454"/>
                </a:solidFill>
                <a:latin typeface="Poppins Bold"/>
                <a:ea typeface="Poppins Bold"/>
                <a:cs typeface="Poppins Bold"/>
                <a:sym typeface="Poppins Bold"/>
              </a:rPr>
              <a:t>12/1/2026</a:t>
            </a:r>
          </a:p>
        </p:txBody>
      </p:sp>
      <p:sp>
        <p:nvSpPr>
          <p:cNvPr id="14" name="Slide Number Placeholder 13">
            <a:extLst>
              <a:ext uri="{FF2B5EF4-FFF2-40B4-BE49-F238E27FC236}">
                <a16:creationId xmlns:a16="http://schemas.microsoft.com/office/drawing/2014/main" id="{9BF87B2D-4A7B-B1C6-5C0E-13D7FBA74E2C}"/>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15" name="TextBox 14">
            <a:extLst>
              <a:ext uri="{FF2B5EF4-FFF2-40B4-BE49-F238E27FC236}">
                <a16:creationId xmlns:a16="http://schemas.microsoft.com/office/drawing/2014/main" id="{9833D4E3-13DE-6D7B-F0A8-256E8F4F67BA}"/>
              </a:ext>
            </a:extLst>
          </p:cNvPr>
          <p:cNvSpPr txBox="1"/>
          <p:nvPr/>
        </p:nvSpPr>
        <p:spPr>
          <a:xfrm>
            <a:off x="307001" y="7581698"/>
            <a:ext cx="442750" cy="400110"/>
          </a:xfrm>
          <a:prstGeom prst="rect">
            <a:avLst/>
          </a:prstGeom>
          <a:noFill/>
        </p:spPr>
        <p:txBody>
          <a:bodyPr wrap="none" rtlCol="0">
            <a:spAutoFit/>
          </a:bodyPr>
          <a:lstStyle/>
          <a:p>
            <a:r>
              <a:rPr lang="en-US" sz="2000" b="1" dirty="0"/>
              <a:t>#2</a:t>
            </a:r>
            <a:endParaRPr lang="bn-BD" sz="2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4093" y="-722197"/>
            <a:ext cx="1736696" cy="173669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1D75"/>
            </a:solidFill>
          </p:spPr>
        </p:sp>
        <p:sp>
          <p:nvSpPr>
            <p:cNvPr id="4" name="TextBox 4"/>
            <p:cNvSpPr txBox="1"/>
            <p:nvPr/>
          </p:nvSpPr>
          <p:spPr>
            <a:xfrm>
              <a:off x="76200" y="28575"/>
              <a:ext cx="660400" cy="708025"/>
            </a:xfrm>
            <a:prstGeom prst="rect">
              <a:avLst/>
            </a:prstGeom>
          </p:spPr>
          <p:txBody>
            <a:bodyPr lIns="40640" tIns="40640" rIns="40640" bIns="40640" rtlCol="0" anchor="ctr"/>
            <a:lstStyle/>
            <a:p>
              <a:pPr algn="ctr">
                <a:lnSpc>
                  <a:spcPts val="2127"/>
                </a:lnSpc>
              </a:pPr>
              <a:endParaRPr sz="1440"/>
            </a:p>
          </p:txBody>
        </p:sp>
      </p:grpSp>
      <p:grpSp>
        <p:nvGrpSpPr>
          <p:cNvPr id="5" name="Group 5"/>
          <p:cNvGrpSpPr/>
          <p:nvPr/>
        </p:nvGrpSpPr>
        <p:grpSpPr>
          <a:xfrm>
            <a:off x="3244101" y="7604123"/>
            <a:ext cx="1736696" cy="173669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1D75"/>
            </a:solidFill>
          </p:spPr>
        </p:sp>
        <p:sp>
          <p:nvSpPr>
            <p:cNvPr id="7" name="TextBox 7"/>
            <p:cNvSpPr txBox="1"/>
            <p:nvPr/>
          </p:nvSpPr>
          <p:spPr>
            <a:xfrm>
              <a:off x="76200" y="28575"/>
              <a:ext cx="660400" cy="708025"/>
            </a:xfrm>
            <a:prstGeom prst="rect">
              <a:avLst/>
            </a:prstGeom>
          </p:spPr>
          <p:txBody>
            <a:bodyPr lIns="40640" tIns="40640" rIns="40640" bIns="40640" rtlCol="0" anchor="ctr"/>
            <a:lstStyle/>
            <a:p>
              <a:pPr algn="ctr">
                <a:lnSpc>
                  <a:spcPts val="2127"/>
                </a:lnSpc>
              </a:pPr>
              <a:endParaRPr sz="1440"/>
            </a:p>
          </p:txBody>
        </p:sp>
      </p:grpSp>
      <p:grpSp>
        <p:nvGrpSpPr>
          <p:cNvPr id="8" name="Group 8"/>
          <p:cNvGrpSpPr/>
          <p:nvPr/>
        </p:nvGrpSpPr>
        <p:grpSpPr>
          <a:xfrm>
            <a:off x="13636791" y="-722197"/>
            <a:ext cx="1736696" cy="173669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1D75"/>
            </a:solidFill>
          </p:spPr>
        </p:sp>
        <p:sp>
          <p:nvSpPr>
            <p:cNvPr id="10" name="TextBox 10"/>
            <p:cNvSpPr txBox="1"/>
            <p:nvPr/>
          </p:nvSpPr>
          <p:spPr>
            <a:xfrm>
              <a:off x="76200" y="28575"/>
              <a:ext cx="660400" cy="708025"/>
            </a:xfrm>
            <a:prstGeom prst="rect">
              <a:avLst/>
            </a:prstGeom>
          </p:spPr>
          <p:txBody>
            <a:bodyPr lIns="40640" tIns="40640" rIns="40640" bIns="40640" rtlCol="0" anchor="ctr"/>
            <a:lstStyle/>
            <a:p>
              <a:pPr algn="ctr">
                <a:lnSpc>
                  <a:spcPts val="2127"/>
                </a:lnSpc>
              </a:pPr>
              <a:endParaRPr sz="1440"/>
            </a:p>
          </p:txBody>
        </p:sp>
      </p:grpSp>
      <p:sp>
        <p:nvSpPr>
          <p:cNvPr id="11" name="TextBox 11"/>
          <p:cNvSpPr txBox="1"/>
          <p:nvPr/>
        </p:nvSpPr>
        <p:spPr>
          <a:xfrm>
            <a:off x="4555244" y="708660"/>
            <a:ext cx="5519913" cy="657231"/>
          </a:xfrm>
          <a:prstGeom prst="rect">
            <a:avLst/>
          </a:prstGeom>
        </p:spPr>
        <p:txBody>
          <a:bodyPr lIns="0" tIns="0" rIns="0" bIns="0" rtlCol="0" anchor="t">
            <a:spAutoFit/>
          </a:bodyPr>
          <a:lstStyle/>
          <a:p>
            <a:pPr algn="ctr">
              <a:lnSpc>
                <a:spcPts val="5375"/>
              </a:lnSpc>
              <a:spcBef>
                <a:spcPct val="0"/>
              </a:spcBef>
            </a:pPr>
            <a:r>
              <a:rPr lang="en-US" sz="3840" b="1" dirty="0">
                <a:solidFill>
                  <a:srgbClr val="545454"/>
                </a:solidFill>
                <a:latin typeface="Poppins Bold"/>
                <a:ea typeface="Poppins Bold"/>
                <a:cs typeface="Poppins Bold"/>
                <a:sym typeface="Poppins Bold"/>
              </a:rPr>
              <a:t>Problem Statement</a:t>
            </a:r>
          </a:p>
        </p:txBody>
      </p:sp>
      <p:sp>
        <p:nvSpPr>
          <p:cNvPr id="12" name="TextBox 12"/>
          <p:cNvSpPr txBox="1"/>
          <p:nvPr/>
        </p:nvSpPr>
        <p:spPr>
          <a:xfrm>
            <a:off x="1590336" y="1705850"/>
            <a:ext cx="11449728" cy="3565913"/>
          </a:xfrm>
          <a:prstGeom prst="rect">
            <a:avLst/>
          </a:prstGeom>
        </p:spPr>
        <p:txBody>
          <a:bodyPr lIns="0" tIns="0" rIns="0" bIns="0" rtlCol="0" anchor="t">
            <a:spAutoFit/>
          </a:bodyPr>
          <a:lstStyle/>
          <a:p>
            <a:pPr algn="just">
              <a:lnSpc>
                <a:spcPts val="4032"/>
              </a:lnSpc>
            </a:pPr>
            <a:r>
              <a:rPr lang="en-US" sz="2880">
                <a:solidFill>
                  <a:srgbClr val="545454"/>
                </a:solidFill>
                <a:latin typeface="Poppins"/>
                <a:ea typeface="Poppins"/>
                <a:cs typeface="Poppins"/>
                <a:sym typeface="Poppins"/>
              </a:rPr>
              <a:t>Mental health has become one of the most pressing concerns in today’s fast-paced, technology-driven world. Stress, anxiety, depression, and other psychological challenges affect millions of people across different age groups and professions. Unfortunately, limited access to mental health resources, social stigma, and lack of awareness often prevent individuals from seeking timely help.</a:t>
            </a:r>
          </a:p>
        </p:txBody>
      </p:sp>
      <p:sp>
        <p:nvSpPr>
          <p:cNvPr id="13" name="Freeform 13"/>
          <p:cNvSpPr/>
          <p:nvPr/>
        </p:nvSpPr>
        <p:spPr>
          <a:xfrm>
            <a:off x="5168432" y="1940752"/>
            <a:ext cx="4293537" cy="4348098"/>
          </a:xfrm>
          <a:custGeom>
            <a:avLst/>
            <a:gdLst/>
            <a:ahLst/>
            <a:cxnLst/>
            <a:rect l="l" t="t" r="r" b="b"/>
            <a:pathLst>
              <a:path w="5366921" h="5435123">
                <a:moveTo>
                  <a:pt x="0" y="0"/>
                </a:moveTo>
                <a:lnTo>
                  <a:pt x="5366922" y="0"/>
                </a:lnTo>
                <a:lnTo>
                  <a:pt x="5366922" y="5435122"/>
                </a:lnTo>
                <a:lnTo>
                  <a:pt x="0" y="5435122"/>
                </a:lnTo>
                <a:lnTo>
                  <a:pt x="0" y="0"/>
                </a:lnTo>
                <a:close/>
              </a:path>
            </a:pathLst>
          </a:custGeom>
          <a:blipFill>
            <a:blip r:embed="rId2">
              <a:alphaModFix amt="9999"/>
            </a:blip>
            <a:stretch>
              <a:fillRect l="-59980" t="-58043" r="-59980" b="-59157"/>
            </a:stretch>
          </a:blipFill>
        </p:spPr>
      </p:sp>
      <p:sp>
        <p:nvSpPr>
          <p:cNvPr id="17" name="Slide Number Placeholder 16">
            <a:extLst>
              <a:ext uri="{FF2B5EF4-FFF2-40B4-BE49-F238E27FC236}">
                <a16:creationId xmlns:a16="http://schemas.microsoft.com/office/drawing/2014/main" id="{B505DBFA-790B-C047-E2A9-01D69ED8C090}"/>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19" name="TextBox 12">
            <a:extLst>
              <a:ext uri="{FF2B5EF4-FFF2-40B4-BE49-F238E27FC236}">
                <a16:creationId xmlns:a16="http://schemas.microsoft.com/office/drawing/2014/main" id="{144B0F76-965A-FDF6-6C13-2B777CDBA9D4}"/>
              </a:ext>
            </a:extLst>
          </p:cNvPr>
          <p:cNvSpPr txBox="1"/>
          <p:nvPr/>
        </p:nvSpPr>
        <p:spPr>
          <a:xfrm>
            <a:off x="12698873" y="7410527"/>
            <a:ext cx="1403151" cy="328551"/>
          </a:xfrm>
          <a:prstGeom prst="rect">
            <a:avLst/>
          </a:prstGeom>
        </p:spPr>
        <p:txBody>
          <a:bodyPr lIns="0" tIns="0" rIns="0" bIns="0" rtlCol="0" anchor="t">
            <a:spAutoFit/>
          </a:bodyPr>
          <a:lstStyle/>
          <a:p>
            <a:pPr algn="ctr">
              <a:lnSpc>
                <a:spcPts val="2687"/>
              </a:lnSpc>
              <a:spcBef>
                <a:spcPct val="0"/>
              </a:spcBef>
            </a:pPr>
            <a:r>
              <a:rPr lang="en-US" sz="1919" b="1" dirty="0">
                <a:solidFill>
                  <a:srgbClr val="545454"/>
                </a:solidFill>
                <a:latin typeface="Poppins Bold"/>
                <a:ea typeface="Poppins Bold"/>
                <a:cs typeface="Poppins Bold"/>
                <a:sym typeface="Poppins Bold"/>
              </a:rPr>
              <a:t>12/1/2026</a:t>
            </a:r>
          </a:p>
        </p:txBody>
      </p:sp>
      <p:sp>
        <p:nvSpPr>
          <p:cNvPr id="20" name="TextBox 19">
            <a:extLst>
              <a:ext uri="{FF2B5EF4-FFF2-40B4-BE49-F238E27FC236}">
                <a16:creationId xmlns:a16="http://schemas.microsoft.com/office/drawing/2014/main" id="{F6792FA5-081F-EB91-62F2-0BAC08845EA8}"/>
              </a:ext>
            </a:extLst>
          </p:cNvPr>
          <p:cNvSpPr txBox="1"/>
          <p:nvPr/>
        </p:nvSpPr>
        <p:spPr>
          <a:xfrm>
            <a:off x="307001" y="7581698"/>
            <a:ext cx="442750" cy="400110"/>
          </a:xfrm>
          <a:prstGeom prst="rect">
            <a:avLst/>
          </a:prstGeom>
          <a:noFill/>
        </p:spPr>
        <p:txBody>
          <a:bodyPr wrap="none" rtlCol="0">
            <a:spAutoFit/>
          </a:bodyPr>
          <a:lstStyle/>
          <a:p>
            <a:r>
              <a:rPr lang="en-US" sz="2000" b="1" dirty="0"/>
              <a:t>#3</a:t>
            </a:r>
            <a:endParaRPr lang="bn-BD" sz="20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546157" y="350363"/>
            <a:ext cx="10940415" cy="708779"/>
          </a:xfrm>
          <a:prstGeom prst="rect">
            <a:avLst/>
          </a:prstGeom>
          <a:noFill/>
          <a:ln/>
        </p:spPr>
        <p:txBody>
          <a:bodyPr wrap="none" lIns="0" tIns="0" rIns="0" bIns="0" rtlCol="0" anchor="t"/>
          <a:lstStyle/>
          <a:p>
            <a:pPr marL="0" indent="0" algn="l">
              <a:lnSpc>
                <a:spcPts val="5550"/>
              </a:lnSpc>
              <a:buNone/>
            </a:pPr>
            <a:r>
              <a:rPr lang="en-US" sz="3200" b="1" u="sng" dirty="0">
                <a:solidFill>
                  <a:srgbClr val="000000"/>
                </a:solidFill>
                <a:latin typeface="Poppins Bold" pitchFamily="34" charset="0"/>
                <a:ea typeface="Poppins Bold" pitchFamily="34" charset="-122"/>
                <a:cs typeface="Poppins Bold" pitchFamily="34" charset="-120"/>
              </a:rPr>
              <a:t>Project Scope: MonProva's Ecosystem</a:t>
            </a:r>
            <a:endParaRPr lang="en-US" sz="3200" u="sng" dirty="0"/>
          </a:p>
        </p:txBody>
      </p:sp>
      <p:grpSp>
        <p:nvGrpSpPr>
          <p:cNvPr id="19" name="Group 18">
            <a:extLst>
              <a:ext uri="{FF2B5EF4-FFF2-40B4-BE49-F238E27FC236}">
                <a16:creationId xmlns:a16="http://schemas.microsoft.com/office/drawing/2014/main" id="{C5DCE0FD-6623-F2B0-2250-39FB6F13CEEC}"/>
              </a:ext>
            </a:extLst>
          </p:cNvPr>
          <p:cNvGrpSpPr/>
          <p:nvPr/>
        </p:nvGrpSpPr>
        <p:grpSpPr>
          <a:xfrm>
            <a:off x="793790" y="1668244"/>
            <a:ext cx="6244709" cy="2783801"/>
            <a:chOff x="793790" y="2258020"/>
            <a:chExt cx="6244709" cy="2783801"/>
          </a:xfrm>
        </p:grpSpPr>
        <p:sp>
          <p:nvSpPr>
            <p:cNvPr id="3" name="Text 1"/>
            <p:cNvSpPr/>
            <p:nvPr/>
          </p:nvSpPr>
          <p:spPr>
            <a:xfrm>
              <a:off x="793790" y="2258020"/>
              <a:ext cx="4350068"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Poppins Bold" pitchFamily="34" charset="0"/>
                  <a:ea typeface="Poppins Bold" pitchFamily="34" charset="-122"/>
                  <a:cs typeface="Poppins Bold" pitchFamily="34" charset="-120"/>
                </a:rPr>
                <a:t>Key Features for Patients</a:t>
              </a:r>
              <a:endParaRPr lang="en-US" sz="2650" dirty="0"/>
            </a:p>
          </p:txBody>
        </p:sp>
        <p:sp>
          <p:nvSpPr>
            <p:cNvPr id="4" name="Text 2"/>
            <p:cNvSpPr/>
            <p:nvPr/>
          </p:nvSpPr>
          <p:spPr>
            <a:xfrm>
              <a:off x="793790" y="291012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Registration &amp; Profile Management</a:t>
              </a:r>
              <a:endParaRPr lang="en-US" sz="1750" dirty="0"/>
            </a:p>
          </p:txBody>
        </p:sp>
        <p:sp>
          <p:nvSpPr>
            <p:cNvPr id="5" name="Text 3"/>
            <p:cNvSpPr/>
            <p:nvPr/>
          </p:nvSpPr>
          <p:spPr>
            <a:xfrm>
              <a:off x="793790" y="335232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Self-Assessment Tests (PHQ-9, GAD-7, PSS-10)</a:t>
              </a:r>
              <a:endParaRPr lang="en-US" sz="1750" dirty="0"/>
            </a:p>
          </p:txBody>
        </p:sp>
        <p:sp>
          <p:nvSpPr>
            <p:cNvPr id="6" name="Text 4"/>
            <p:cNvSpPr/>
            <p:nvPr/>
          </p:nvSpPr>
          <p:spPr>
            <a:xfrm>
              <a:off x="793790" y="379452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Appointment Booking &amp; Progress Tracking</a:t>
              </a:r>
              <a:endParaRPr lang="en-US" sz="1750" dirty="0"/>
            </a:p>
          </p:txBody>
        </p:sp>
        <p:sp>
          <p:nvSpPr>
            <p:cNvPr id="7" name="Text 5"/>
            <p:cNvSpPr/>
            <p:nvPr/>
          </p:nvSpPr>
          <p:spPr>
            <a:xfrm>
              <a:off x="793790" y="423672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Resources &amp; Wellness Activities</a:t>
              </a:r>
              <a:endParaRPr lang="en-US" sz="1750" dirty="0"/>
            </a:p>
          </p:txBody>
        </p:sp>
        <p:sp>
          <p:nvSpPr>
            <p:cNvPr id="8" name="Text 6"/>
            <p:cNvSpPr/>
            <p:nvPr/>
          </p:nvSpPr>
          <p:spPr>
            <a:xfrm>
              <a:off x="793790" y="467891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Secure Help Section</a:t>
              </a:r>
              <a:endParaRPr lang="en-US" sz="1750" dirty="0"/>
            </a:p>
          </p:txBody>
        </p:sp>
      </p:grpSp>
      <p:grpSp>
        <p:nvGrpSpPr>
          <p:cNvPr id="18" name="Group 17">
            <a:extLst>
              <a:ext uri="{FF2B5EF4-FFF2-40B4-BE49-F238E27FC236}">
                <a16:creationId xmlns:a16="http://schemas.microsoft.com/office/drawing/2014/main" id="{47E3604B-AE61-BA9A-0DC0-CC98FCAA6CE6}"/>
              </a:ext>
            </a:extLst>
          </p:cNvPr>
          <p:cNvGrpSpPr/>
          <p:nvPr/>
        </p:nvGrpSpPr>
        <p:grpSpPr>
          <a:xfrm>
            <a:off x="793790" y="5540777"/>
            <a:ext cx="6244709" cy="1899404"/>
            <a:chOff x="793790" y="5268635"/>
            <a:chExt cx="6244709" cy="1899404"/>
          </a:xfrm>
        </p:grpSpPr>
        <p:sp>
          <p:nvSpPr>
            <p:cNvPr id="9" name="Text 7"/>
            <p:cNvSpPr/>
            <p:nvPr/>
          </p:nvSpPr>
          <p:spPr>
            <a:xfrm>
              <a:off x="793790" y="5268635"/>
              <a:ext cx="4261604"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Poppins Bold" pitchFamily="34" charset="0"/>
                  <a:ea typeface="Poppins Bold" pitchFamily="34" charset="-122"/>
                  <a:cs typeface="Poppins Bold" pitchFamily="34" charset="-120"/>
                </a:rPr>
                <a:t>Key Features for Doctors</a:t>
              </a:r>
              <a:endParaRPr lang="en-US" sz="2650" dirty="0"/>
            </a:p>
          </p:txBody>
        </p:sp>
        <p:sp>
          <p:nvSpPr>
            <p:cNvPr id="10" name="Text 8"/>
            <p:cNvSpPr/>
            <p:nvPr/>
          </p:nvSpPr>
          <p:spPr>
            <a:xfrm>
              <a:off x="793790" y="592074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Profile Management &amp; Verification</a:t>
              </a:r>
              <a:endParaRPr lang="en-US" sz="1750" dirty="0"/>
            </a:p>
          </p:txBody>
        </p:sp>
        <p:sp>
          <p:nvSpPr>
            <p:cNvPr id="11" name="Text 9"/>
            <p:cNvSpPr/>
            <p:nvPr/>
          </p:nvSpPr>
          <p:spPr>
            <a:xfrm>
              <a:off x="793790" y="636293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Consultation &amp; Prescription Management</a:t>
              </a:r>
              <a:endParaRPr lang="en-US" sz="1750" dirty="0"/>
            </a:p>
          </p:txBody>
        </p:sp>
        <p:sp>
          <p:nvSpPr>
            <p:cNvPr id="12" name="Text 10"/>
            <p:cNvSpPr/>
            <p:nvPr/>
          </p:nvSpPr>
          <p:spPr>
            <a:xfrm>
              <a:off x="793790" y="680513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Help Section Participation</a:t>
              </a:r>
              <a:endParaRPr lang="en-US" sz="1750" dirty="0"/>
            </a:p>
          </p:txBody>
        </p:sp>
      </p:grpSp>
      <p:grpSp>
        <p:nvGrpSpPr>
          <p:cNvPr id="20" name="Group 19">
            <a:extLst>
              <a:ext uri="{FF2B5EF4-FFF2-40B4-BE49-F238E27FC236}">
                <a16:creationId xmlns:a16="http://schemas.microsoft.com/office/drawing/2014/main" id="{F3C5D717-0180-59CB-1FEB-A30FED32196C}"/>
              </a:ext>
            </a:extLst>
          </p:cNvPr>
          <p:cNvGrpSpPr/>
          <p:nvPr/>
        </p:nvGrpSpPr>
        <p:grpSpPr>
          <a:xfrm>
            <a:off x="7315200" y="1668244"/>
            <a:ext cx="6244709" cy="2341603"/>
            <a:chOff x="7599521" y="2258020"/>
            <a:chExt cx="6244709" cy="2341603"/>
          </a:xfrm>
        </p:grpSpPr>
        <p:sp>
          <p:nvSpPr>
            <p:cNvPr id="13" name="Text 11"/>
            <p:cNvSpPr/>
            <p:nvPr/>
          </p:nvSpPr>
          <p:spPr>
            <a:xfrm>
              <a:off x="7599521" y="2258020"/>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Poppins Bold" pitchFamily="34" charset="0"/>
                  <a:ea typeface="Poppins Bold" pitchFamily="34" charset="-122"/>
                  <a:cs typeface="Poppins Bold" pitchFamily="34" charset="-120"/>
                </a:rPr>
                <a:t>Key Benefits</a:t>
              </a:r>
              <a:endParaRPr lang="en-US" sz="2650" dirty="0"/>
            </a:p>
          </p:txBody>
        </p:sp>
        <p:sp>
          <p:nvSpPr>
            <p:cNvPr id="14" name="Text 12"/>
            <p:cNvSpPr/>
            <p:nvPr/>
          </p:nvSpPr>
          <p:spPr>
            <a:xfrm>
              <a:off x="7599521" y="291012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Empowers patients for self-monitoring.</a:t>
              </a:r>
              <a:endParaRPr lang="en-US" sz="1750" dirty="0"/>
            </a:p>
          </p:txBody>
        </p:sp>
        <p:sp>
          <p:nvSpPr>
            <p:cNvPr id="15" name="Text 13"/>
            <p:cNvSpPr/>
            <p:nvPr/>
          </p:nvSpPr>
          <p:spPr>
            <a:xfrm>
              <a:off x="7599521" y="3352324"/>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Provides structured tools for doctors.</a:t>
              </a:r>
              <a:endParaRPr lang="en-US" sz="1750" dirty="0"/>
            </a:p>
          </p:txBody>
        </p:sp>
        <p:sp>
          <p:nvSpPr>
            <p:cNvPr id="16" name="Text 14"/>
            <p:cNvSpPr/>
            <p:nvPr/>
          </p:nvSpPr>
          <p:spPr>
            <a:xfrm>
              <a:off x="7599521" y="379452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Ensures secure communication &amp; privacy.</a:t>
              </a:r>
              <a:endParaRPr lang="en-US" sz="1750" dirty="0"/>
            </a:p>
          </p:txBody>
        </p:sp>
        <p:sp>
          <p:nvSpPr>
            <p:cNvPr id="17" name="Text 15"/>
            <p:cNvSpPr/>
            <p:nvPr/>
          </p:nvSpPr>
          <p:spPr>
            <a:xfrm>
              <a:off x="7599521" y="423672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000000"/>
                  </a:solidFill>
                  <a:latin typeface="Poppins" pitchFamily="34" charset="0"/>
                  <a:ea typeface="Poppins" pitchFamily="34" charset="-122"/>
                  <a:cs typeface="Poppins" pitchFamily="34" charset="-120"/>
                </a:rPr>
                <a:t>Creates a closed-loop care ecosystem.</a:t>
              </a:r>
              <a:endParaRPr lang="en-US" sz="1750" dirty="0"/>
            </a:p>
          </p:txBody>
        </p:sp>
      </p:grpSp>
      <p:sp>
        <p:nvSpPr>
          <p:cNvPr id="21" name="Rectangle 20">
            <a:extLst>
              <a:ext uri="{FF2B5EF4-FFF2-40B4-BE49-F238E27FC236}">
                <a16:creationId xmlns:a16="http://schemas.microsoft.com/office/drawing/2014/main" id="{CDD67ACF-C8FD-2747-A689-B120D0DDB07C}"/>
              </a:ext>
            </a:extLst>
          </p:cNvPr>
          <p:cNvSpPr/>
          <p:nvPr/>
        </p:nvSpPr>
        <p:spPr>
          <a:xfrm>
            <a:off x="12801600" y="7652657"/>
            <a:ext cx="1992086" cy="576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13">
            <a:extLst>
              <a:ext uri="{FF2B5EF4-FFF2-40B4-BE49-F238E27FC236}">
                <a16:creationId xmlns:a16="http://schemas.microsoft.com/office/drawing/2014/main" id="{B585F64F-5469-6BC3-A84D-9FC9E75313CC}"/>
              </a:ext>
            </a:extLst>
          </p:cNvPr>
          <p:cNvSpPr/>
          <p:nvPr/>
        </p:nvSpPr>
        <p:spPr>
          <a:xfrm>
            <a:off x="5168432" y="1940752"/>
            <a:ext cx="4293537" cy="4348098"/>
          </a:xfrm>
          <a:custGeom>
            <a:avLst/>
            <a:gdLst/>
            <a:ahLst/>
            <a:cxnLst/>
            <a:rect l="l" t="t" r="r" b="b"/>
            <a:pathLst>
              <a:path w="5366921" h="5435123">
                <a:moveTo>
                  <a:pt x="0" y="0"/>
                </a:moveTo>
                <a:lnTo>
                  <a:pt x="5366922" y="0"/>
                </a:lnTo>
                <a:lnTo>
                  <a:pt x="5366922" y="5435122"/>
                </a:lnTo>
                <a:lnTo>
                  <a:pt x="0" y="5435122"/>
                </a:lnTo>
                <a:lnTo>
                  <a:pt x="0" y="0"/>
                </a:lnTo>
                <a:close/>
              </a:path>
            </a:pathLst>
          </a:custGeom>
          <a:blipFill>
            <a:blip r:embed="rId3">
              <a:alphaModFix amt="9999"/>
            </a:blip>
            <a:stretch>
              <a:fillRect l="-59980" t="-58043" r="-59980" b="-59157"/>
            </a:stretch>
          </a:blipFill>
        </p:spPr>
      </p:sp>
      <p:sp>
        <p:nvSpPr>
          <p:cNvPr id="24" name="TextBox 12">
            <a:extLst>
              <a:ext uri="{FF2B5EF4-FFF2-40B4-BE49-F238E27FC236}">
                <a16:creationId xmlns:a16="http://schemas.microsoft.com/office/drawing/2014/main" id="{F08445C5-3CB2-19AA-8E7A-855CEB514836}"/>
              </a:ext>
            </a:extLst>
          </p:cNvPr>
          <p:cNvSpPr txBox="1"/>
          <p:nvPr/>
        </p:nvSpPr>
        <p:spPr>
          <a:xfrm>
            <a:off x="12698873" y="7410527"/>
            <a:ext cx="1403151" cy="328551"/>
          </a:xfrm>
          <a:prstGeom prst="rect">
            <a:avLst/>
          </a:prstGeom>
        </p:spPr>
        <p:txBody>
          <a:bodyPr lIns="0" tIns="0" rIns="0" bIns="0" rtlCol="0" anchor="t">
            <a:spAutoFit/>
          </a:bodyPr>
          <a:lstStyle/>
          <a:p>
            <a:pPr algn="ctr">
              <a:lnSpc>
                <a:spcPts val="2687"/>
              </a:lnSpc>
              <a:spcBef>
                <a:spcPct val="0"/>
              </a:spcBef>
            </a:pPr>
            <a:r>
              <a:rPr lang="en-US" sz="1919" b="1" dirty="0">
                <a:solidFill>
                  <a:srgbClr val="545454"/>
                </a:solidFill>
                <a:latin typeface="Poppins Bold"/>
                <a:ea typeface="Poppins Bold"/>
                <a:cs typeface="Poppins Bold"/>
                <a:sym typeface="Poppins Bold"/>
              </a:rPr>
              <a:t>12/1/2026</a:t>
            </a:r>
          </a:p>
        </p:txBody>
      </p:sp>
      <p:sp>
        <p:nvSpPr>
          <p:cNvPr id="25" name="TextBox 24">
            <a:extLst>
              <a:ext uri="{FF2B5EF4-FFF2-40B4-BE49-F238E27FC236}">
                <a16:creationId xmlns:a16="http://schemas.microsoft.com/office/drawing/2014/main" id="{197663EE-438B-C229-327E-66A897B27CCE}"/>
              </a:ext>
            </a:extLst>
          </p:cNvPr>
          <p:cNvSpPr txBox="1"/>
          <p:nvPr/>
        </p:nvSpPr>
        <p:spPr>
          <a:xfrm>
            <a:off x="307001" y="7581698"/>
            <a:ext cx="442750" cy="400110"/>
          </a:xfrm>
          <a:prstGeom prst="rect">
            <a:avLst/>
          </a:prstGeom>
          <a:noFill/>
        </p:spPr>
        <p:txBody>
          <a:bodyPr wrap="none" rtlCol="0">
            <a:spAutoFit/>
          </a:bodyPr>
          <a:lstStyle/>
          <a:p>
            <a:r>
              <a:rPr lang="en-US" sz="2000" b="1" dirty="0"/>
              <a:t>#4</a:t>
            </a:r>
            <a:endParaRPr lang="bn-BD" sz="20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305917" y="953031"/>
            <a:ext cx="9092684" cy="708779"/>
          </a:xfrm>
          <a:prstGeom prst="rect">
            <a:avLst/>
          </a:prstGeom>
          <a:noFill/>
          <a:ln/>
        </p:spPr>
        <p:txBody>
          <a:bodyPr wrap="none" lIns="0" tIns="0" rIns="0" bIns="0" rtlCol="0" anchor="t"/>
          <a:lstStyle/>
          <a:p>
            <a:pPr marL="0" indent="0" algn="l">
              <a:lnSpc>
                <a:spcPts val="5550"/>
              </a:lnSpc>
              <a:buNone/>
            </a:pPr>
            <a:r>
              <a:rPr lang="en-US" sz="3200" b="1" u="sng" dirty="0">
                <a:solidFill>
                  <a:srgbClr val="000000"/>
                </a:solidFill>
                <a:latin typeface="Poppins Bold" pitchFamily="34" charset="0"/>
                <a:ea typeface="Poppins Bold" pitchFamily="34" charset="-122"/>
                <a:cs typeface="Poppins Bold" pitchFamily="34" charset="-120"/>
              </a:rPr>
              <a:t>Stakeholders &amp; Characteristics</a:t>
            </a:r>
            <a:endParaRPr lang="en-US" sz="3200" u="sng" dirty="0"/>
          </a:p>
        </p:txBody>
      </p:sp>
      <p:sp>
        <p:nvSpPr>
          <p:cNvPr id="3" name="Text 1"/>
          <p:cNvSpPr/>
          <p:nvPr/>
        </p:nvSpPr>
        <p:spPr>
          <a:xfrm>
            <a:off x="2197418" y="2861548"/>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000000"/>
                </a:solidFill>
                <a:latin typeface="Poppins Bold" pitchFamily="34" charset="0"/>
                <a:ea typeface="Poppins Bold" pitchFamily="34" charset="-122"/>
                <a:cs typeface="Poppins Bold" pitchFamily="34" charset="-120"/>
              </a:rPr>
              <a:t>Patients</a:t>
            </a:r>
            <a:endParaRPr lang="en-US" sz="2200" dirty="0"/>
          </a:p>
        </p:txBody>
      </p:sp>
      <p:sp>
        <p:nvSpPr>
          <p:cNvPr id="4" name="Text 2"/>
          <p:cNvSpPr/>
          <p:nvPr/>
        </p:nvSpPr>
        <p:spPr>
          <a:xfrm>
            <a:off x="793790" y="3351967"/>
            <a:ext cx="4238863" cy="725805"/>
          </a:xfrm>
          <a:prstGeom prst="rect">
            <a:avLst/>
          </a:prstGeom>
          <a:noFill/>
          <a:ln/>
        </p:spPr>
        <p:txBody>
          <a:bodyPr wrap="square" lIns="0" tIns="0" rIns="0" bIns="0" rtlCol="0" anchor="t"/>
          <a:lstStyle/>
          <a:p>
            <a:pPr marL="0" indent="0" algn="r">
              <a:lnSpc>
                <a:spcPts val="2850"/>
              </a:lnSpc>
              <a:buNone/>
            </a:pPr>
            <a:r>
              <a:rPr lang="en-US" sz="1750" dirty="0">
                <a:solidFill>
                  <a:srgbClr val="000000"/>
                </a:solidFill>
                <a:latin typeface="Poppins" pitchFamily="34" charset="0"/>
                <a:ea typeface="Poppins" pitchFamily="34" charset="-122"/>
                <a:cs typeface="Poppins" pitchFamily="34" charset="-120"/>
              </a:rPr>
              <a:t>Primary users seeking mental health support.</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pic>
        <p:nvPicPr>
          <p:cNvPr id="6" name="Image 1" descr="preencoded.png"/>
          <p:cNvPicPr>
            <a:picLocks noChangeAspect="1"/>
          </p:cNvPicPr>
          <p:nvPr/>
        </p:nvPicPr>
        <p:blipFill>
          <a:blip r:embed="rId4"/>
          <a:stretch>
            <a:fillRect/>
          </a:stretch>
        </p:blipFill>
        <p:spPr>
          <a:xfrm>
            <a:off x="6204585" y="3805714"/>
            <a:ext cx="318968" cy="398621"/>
          </a:xfrm>
          <a:prstGeom prst="rect">
            <a:avLst/>
          </a:prstGeom>
        </p:spPr>
      </p:pic>
      <p:sp>
        <p:nvSpPr>
          <p:cNvPr id="7" name="Text 3"/>
          <p:cNvSpPr/>
          <p:nvPr/>
        </p:nvSpPr>
        <p:spPr>
          <a:xfrm>
            <a:off x="9597628" y="245280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Poppins Bold" pitchFamily="34" charset="0"/>
                <a:ea typeface="Poppins Bold" pitchFamily="34" charset="-122"/>
                <a:cs typeface="Poppins Bold" pitchFamily="34" charset="-120"/>
              </a:rPr>
              <a:t>Doctors</a:t>
            </a:r>
            <a:endParaRPr lang="en-US" sz="2200" dirty="0"/>
          </a:p>
        </p:txBody>
      </p:sp>
      <p:sp>
        <p:nvSpPr>
          <p:cNvPr id="8" name="Text 4"/>
          <p:cNvSpPr/>
          <p:nvPr/>
        </p:nvSpPr>
        <p:spPr>
          <a:xfrm>
            <a:off x="9597628" y="2943225"/>
            <a:ext cx="4238982"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Poppins" pitchFamily="34" charset="0"/>
                <a:ea typeface="Poppins" pitchFamily="34" charset="-122"/>
                <a:cs typeface="Poppins" pitchFamily="34" charset="-120"/>
              </a:rPr>
              <a:t>Professionals providing consultations &amp; care.</a:t>
            </a:r>
            <a:endParaRPr lang="en-US" sz="1750" dirty="0"/>
          </a:p>
        </p:txBody>
      </p:sp>
      <p:pic>
        <p:nvPicPr>
          <p:cNvPr id="9" name="Image 2" descr="preencoded.png"/>
          <p:cNvPicPr>
            <a:picLocks noChangeAspect="1"/>
          </p:cNvPicPr>
          <p:nvPr/>
        </p:nvPicPr>
        <p:blipFill>
          <a:blip r:embed="rId5"/>
          <a:stretch>
            <a:fillRect/>
          </a:stretch>
        </p:blipFill>
        <p:spPr>
          <a:xfrm>
            <a:off x="5032653" y="2413516"/>
            <a:ext cx="4564975" cy="4564975"/>
          </a:xfrm>
          <a:prstGeom prst="rect">
            <a:avLst/>
          </a:prstGeom>
        </p:spPr>
      </p:pic>
      <p:pic>
        <p:nvPicPr>
          <p:cNvPr id="10" name="Image 3" descr="preencoded.png"/>
          <p:cNvPicPr>
            <a:picLocks noChangeAspect="1"/>
          </p:cNvPicPr>
          <p:nvPr/>
        </p:nvPicPr>
        <p:blipFill>
          <a:blip r:embed="rId6"/>
          <a:stretch>
            <a:fillRect/>
          </a:stretch>
        </p:blipFill>
        <p:spPr>
          <a:xfrm>
            <a:off x="7518797" y="3378637"/>
            <a:ext cx="318968" cy="398621"/>
          </a:xfrm>
          <a:prstGeom prst="rect">
            <a:avLst/>
          </a:prstGeom>
        </p:spPr>
      </p:pic>
      <p:sp>
        <p:nvSpPr>
          <p:cNvPr id="11" name="Text 5"/>
          <p:cNvSpPr/>
          <p:nvPr/>
        </p:nvSpPr>
        <p:spPr>
          <a:xfrm>
            <a:off x="10051256" y="408777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Poppins Bold" pitchFamily="34" charset="0"/>
                <a:ea typeface="Poppins Bold" pitchFamily="34" charset="-122"/>
                <a:cs typeface="Poppins Bold" pitchFamily="34" charset="-120"/>
              </a:rPr>
              <a:t>Administrators</a:t>
            </a:r>
            <a:endParaRPr lang="en-US" sz="2200" dirty="0"/>
          </a:p>
        </p:txBody>
      </p:sp>
      <p:sp>
        <p:nvSpPr>
          <p:cNvPr id="12" name="Text 6"/>
          <p:cNvSpPr/>
          <p:nvPr/>
        </p:nvSpPr>
        <p:spPr>
          <a:xfrm>
            <a:off x="10051256" y="4578191"/>
            <a:ext cx="3785354"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Poppins" pitchFamily="34" charset="0"/>
                <a:ea typeface="Poppins" pitchFamily="34" charset="-122"/>
                <a:cs typeface="Poppins" pitchFamily="34" charset="-120"/>
              </a:rPr>
              <a:t>System managers, verification, monitoring.</a:t>
            </a:r>
            <a:endParaRPr lang="en-US" sz="1750" dirty="0"/>
          </a:p>
        </p:txBody>
      </p:sp>
      <p:pic>
        <p:nvPicPr>
          <p:cNvPr id="13" name="Image 4" descr="preencoded.png"/>
          <p:cNvPicPr>
            <a:picLocks noChangeAspect="1"/>
          </p:cNvPicPr>
          <p:nvPr/>
        </p:nvPicPr>
        <p:blipFill>
          <a:blip r:embed="rId7"/>
          <a:stretch>
            <a:fillRect/>
          </a:stretch>
        </p:blipFill>
        <p:spPr>
          <a:xfrm>
            <a:off x="5032653" y="2413516"/>
            <a:ext cx="4564975" cy="4564975"/>
          </a:xfrm>
          <a:prstGeom prst="rect">
            <a:avLst/>
          </a:prstGeom>
        </p:spPr>
      </p:pic>
      <p:pic>
        <p:nvPicPr>
          <p:cNvPr id="14" name="Image 5" descr="preencoded.png"/>
          <p:cNvPicPr>
            <a:picLocks noChangeAspect="1"/>
          </p:cNvPicPr>
          <p:nvPr/>
        </p:nvPicPr>
        <p:blipFill>
          <a:blip r:embed="rId8"/>
          <a:stretch>
            <a:fillRect/>
          </a:stretch>
        </p:blipFill>
        <p:spPr>
          <a:xfrm>
            <a:off x="8331041" y="4496633"/>
            <a:ext cx="318968" cy="398621"/>
          </a:xfrm>
          <a:prstGeom prst="rect">
            <a:avLst/>
          </a:prstGeom>
        </p:spPr>
      </p:pic>
      <p:sp>
        <p:nvSpPr>
          <p:cNvPr id="15" name="Text 7"/>
          <p:cNvSpPr/>
          <p:nvPr/>
        </p:nvSpPr>
        <p:spPr>
          <a:xfrm>
            <a:off x="9597628" y="572285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Poppins Bold" pitchFamily="34" charset="0"/>
                <a:ea typeface="Poppins Bold" pitchFamily="34" charset="-122"/>
                <a:cs typeface="Poppins Bold" pitchFamily="34" charset="-120"/>
              </a:rPr>
              <a:t>Family Members</a:t>
            </a:r>
            <a:endParaRPr lang="en-US" sz="2200" dirty="0"/>
          </a:p>
        </p:txBody>
      </p:sp>
      <p:sp>
        <p:nvSpPr>
          <p:cNvPr id="16" name="Text 8"/>
          <p:cNvSpPr/>
          <p:nvPr/>
        </p:nvSpPr>
        <p:spPr>
          <a:xfrm>
            <a:off x="9597628" y="6213277"/>
            <a:ext cx="4238982"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Poppins" pitchFamily="34" charset="0"/>
                <a:ea typeface="Poppins" pitchFamily="34" charset="-122"/>
                <a:cs typeface="Poppins" pitchFamily="34" charset="-120"/>
              </a:rPr>
              <a:t>Indirect supporters, especially for minors/elderly.</a:t>
            </a:r>
            <a:endParaRPr lang="en-US" sz="1750" dirty="0"/>
          </a:p>
        </p:txBody>
      </p:sp>
      <p:pic>
        <p:nvPicPr>
          <p:cNvPr id="17" name="Image 6" descr="preencoded.png"/>
          <p:cNvPicPr>
            <a:picLocks noChangeAspect="1"/>
          </p:cNvPicPr>
          <p:nvPr/>
        </p:nvPicPr>
        <p:blipFill>
          <a:blip r:embed="rId9"/>
          <a:stretch>
            <a:fillRect/>
          </a:stretch>
        </p:blipFill>
        <p:spPr>
          <a:xfrm>
            <a:off x="5032653" y="2413516"/>
            <a:ext cx="4564975" cy="4564975"/>
          </a:xfrm>
          <a:prstGeom prst="rect">
            <a:avLst/>
          </a:prstGeom>
        </p:spPr>
      </p:pic>
      <p:pic>
        <p:nvPicPr>
          <p:cNvPr id="18" name="Image 7" descr="preencoded.png"/>
          <p:cNvPicPr>
            <a:picLocks noChangeAspect="1"/>
          </p:cNvPicPr>
          <p:nvPr/>
        </p:nvPicPr>
        <p:blipFill>
          <a:blip r:embed="rId10"/>
          <a:stretch>
            <a:fillRect/>
          </a:stretch>
        </p:blipFill>
        <p:spPr>
          <a:xfrm>
            <a:off x="7518797" y="5614630"/>
            <a:ext cx="318968" cy="398621"/>
          </a:xfrm>
          <a:prstGeom prst="rect">
            <a:avLst/>
          </a:prstGeom>
        </p:spPr>
      </p:pic>
      <p:sp>
        <p:nvSpPr>
          <p:cNvPr id="19" name="Text 9"/>
          <p:cNvSpPr/>
          <p:nvPr/>
        </p:nvSpPr>
        <p:spPr>
          <a:xfrm>
            <a:off x="2197418" y="5314117"/>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000000"/>
                </a:solidFill>
                <a:latin typeface="Poppins Bold" pitchFamily="34" charset="0"/>
                <a:ea typeface="Poppins Bold" pitchFamily="34" charset="-122"/>
                <a:cs typeface="Poppins Bold" pitchFamily="34" charset="-120"/>
              </a:rPr>
              <a:t>Dev Team</a:t>
            </a:r>
            <a:endParaRPr lang="en-US" sz="2200" dirty="0"/>
          </a:p>
        </p:txBody>
      </p:sp>
      <p:sp>
        <p:nvSpPr>
          <p:cNvPr id="20" name="Text 10"/>
          <p:cNvSpPr/>
          <p:nvPr/>
        </p:nvSpPr>
        <p:spPr>
          <a:xfrm>
            <a:off x="793790" y="5804535"/>
            <a:ext cx="4238863" cy="725805"/>
          </a:xfrm>
          <a:prstGeom prst="rect">
            <a:avLst/>
          </a:prstGeom>
          <a:noFill/>
          <a:ln/>
        </p:spPr>
        <p:txBody>
          <a:bodyPr wrap="square" lIns="0" tIns="0" rIns="0" bIns="0" rtlCol="0" anchor="t"/>
          <a:lstStyle/>
          <a:p>
            <a:pPr marL="0" indent="0" algn="r">
              <a:lnSpc>
                <a:spcPts val="2850"/>
              </a:lnSpc>
              <a:buNone/>
            </a:pPr>
            <a:r>
              <a:rPr lang="en-US" sz="1750" dirty="0">
                <a:solidFill>
                  <a:srgbClr val="000000"/>
                </a:solidFill>
                <a:latin typeface="Poppins" pitchFamily="34" charset="0"/>
                <a:ea typeface="Poppins" pitchFamily="34" charset="-122"/>
                <a:cs typeface="Poppins" pitchFamily="34" charset="-120"/>
              </a:rPr>
              <a:t>Building, maintaining, and upgrading the platform.</a:t>
            </a:r>
            <a:endParaRPr lang="en-US" sz="1750" dirty="0"/>
          </a:p>
        </p:txBody>
      </p:sp>
      <p:pic>
        <p:nvPicPr>
          <p:cNvPr id="21" name="Image 8" descr="preencoded.png"/>
          <p:cNvPicPr>
            <a:picLocks noChangeAspect="1"/>
          </p:cNvPicPr>
          <p:nvPr/>
        </p:nvPicPr>
        <p:blipFill>
          <a:blip r:embed="rId11"/>
          <a:stretch>
            <a:fillRect/>
          </a:stretch>
        </p:blipFill>
        <p:spPr>
          <a:xfrm>
            <a:off x="5032653" y="2413516"/>
            <a:ext cx="4564975" cy="4564975"/>
          </a:xfrm>
          <a:prstGeom prst="rect">
            <a:avLst/>
          </a:prstGeom>
        </p:spPr>
      </p:pic>
      <p:pic>
        <p:nvPicPr>
          <p:cNvPr id="22" name="Image 9" descr="preencoded.png"/>
          <p:cNvPicPr>
            <a:picLocks noChangeAspect="1"/>
          </p:cNvPicPr>
          <p:nvPr/>
        </p:nvPicPr>
        <p:blipFill>
          <a:blip r:embed="rId12"/>
          <a:stretch>
            <a:fillRect/>
          </a:stretch>
        </p:blipFill>
        <p:spPr>
          <a:xfrm>
            <a:off x="6204585" y="5187553"/>
            <a:ext cx="318968" cy="398621"/>
          </a:xfrm>
          <a:prstGeom prst="rect">
            <a:avLst/>
          </a:prstGeom>
        </p:spPr>
      </p:pic>
      <p:sp>
        <p:nvSpPr>
          <p:cNvPr id="23" name="Rectangle 22">
            <a:extLst>
              <a:ext uri="{FF2B5EF4-FFF2-40B4-BE49-F238E27FC236}">
                <a16:creationId xmlns:a16="http://schemas.microsoft.com/office/drawing/2014/main" id="{D349480B-F7CA-A4C6-2B4D-425A1AF88EA1}"/>
              </a:ext>
            </a:extLst>
          </p:cNvPr>
          <p:cNvSpPr/>
          <p:nvPr/>
        </p:nvSpPr>
        <p:spPr>
          <a:xfrm>
            <a:off x="12801600" y="7652657"/>
            <a:ext cx="1992086" cy="576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12">
            <a:extLst>
              <a:ext uri="{FF2B5EF4-FFF2-40B4-BE49-F238E27FC236}">
                <a16:creationId xmlns:a16="http://schemas.microsoft.com/office/drawing/2014/main" id="{7891CDCC-F354-12FC-4C0E-0D334C400767}"/>
              </a:ext>
            </a:extLst>
          </p:cNvPr>
          <p:cNvSpPr txBox="1"/>
          <p:nvPr/>
        </p:nvSpPr>
        <p:spPr>
          <a:xfrm>
            <a:off x="12698873" y="7410527"/>
            <a:ext cx="1403151" cy="328551"/>
          </a:xfrm>
          <a:prstGeom prst="rect">
            <a:avLst/>
          </a:prstGeom>
        </p:spPr>
        <p:txBody>
          <a:bodyPr lIns="0" tIns="0" rIns="0" bIns="0" rtlCol="0" anchor="t">
            <a:spAutoFit/>
          </a:bodyPr>
          <a:lstStyle/>
          <a:p>
            <a:pPr algn="ctr">
              <a:lnSpc>
                <a:spcPts val="2687"/>
              </a:lnSpc>
              <a:spcBef>
                <a:spcPct val="0"/>
              </a:spcBef>
            </a:pPr>
            <a:r>
              <a:rPr lang="en-US" sz="1919" b="1" dirty="0">
                <a:solidFill>
                  <a:srgbClr val="545454"/>
                </a:solidFill>
                <a:latin typeface="Poppins Bold"/>
                <a:ea typeface="Poppins Bold"/>
                <a:cs typeface="Poppins Bold"/>
                <a:sym typeface="Poppins Bold"/>
              </a:rPr>
              <a:t>12/1/2026</a:t>
            </a:r>
          </a:p>
        </p:txBody>
      </p:sp>
      <p:sp>
        <p:nvSpPr>
          <p:cNvPr id="25" name="TextBox 24">
            <a:extLst>
              <a:ext uri="{FF2B5EF4-FFF2-40B4-BE49-F238E27FC236}">
                <a16:creationId xmlns:a16="http://schemas.microsoft.com/office/drawing/2014/main" id="{E1D24745-D3E8-ADF0-6A64-F926CEF3A1A0}"/>
              </a:ext>
            </a:extLst>
          </p:cNvPr>
          <p:cNvSpPr txBox="1"/>
          <p:nvPr/>
        </p:nvSpPr>
        <p:spPr>
          <a:xfrm>
            <a:off x="307001" y="7581698"/>
            <a:ext cx="442750" cy="400110"/>
          </a:xfrm>
          <a:prstGeom prst="rect">
            <a:avLst/>
          </a:prstGeom>
          <a:noFill/>
        </p:spPr>
        <p:txBody>
          <a:bodyPr wrap="none" rtlCol="0">
            <a:spAutoFit/>
          </a:bodyPr>
          <a:lstStyle/>
          <a:p>
            <a:r>
              <a:rPr lang="en-US" sz="2000" b="1" dirty="0"/>
              <a:t>#5</a:t>
            </a:r>
            <a:endParaRPr lang="bn-BD" sz="20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741485" y="394037"/>
            <a:ext cx="5147429" cy="496133"/>
          </a:xfrm>
          <a:prstGeom prst="rect">
            <a:avLst/>
          </a:prstGeom>
          <a:noFill/>
          <a:ln/>
        </p:spPr>
        <p:txBody>
          <a:bodyPr wrap="none" lIns="0" tIns="0" rIns="0" bIns="0" rtlCol="0" anchor="t"/>
          <a:lstStyle/>
          <a:p>
            <a:pPr marL="0" indent="0" algn="l">
              <a:lnSpc>
                <a:spcPts val="3900"/>
              </a:lnSpc>
              <a:buNone/>
            </a:pPr>
            <a:r>
              <a:rPr lang="en-US" sz="3100" b="1" u="sng" dirty="0">
                <a:solidFill>
                  <a:srgbClr val="000000"/>
                </a:solidFill>
                <a:latin typeface="Poppins Bold" pitchFamily="34" charset="0"/>
                <a:ea typeface="Poppins Bold" pitchFamily="34" charset="-122"/>
                <a:cs typeface="Poppins Bold" pitchFamily="34" charset="-120"/>
              </a:rPr>
              <a:t>Functional Requirements</a:t>
            </a:r>
            <a:endParaRPr lang="en-US" sz="3100" u="sng" dirty="0"/>
          </a:p>
        </p:txBody>
      </p:sp>
      <p:sp>
        <p:nvSpPr>
          <p:cNvPr id="3" name="Shape 1"/>
          <p:cNvSpPr/>
          <p:nvPr/>
        </p:nvSpPr>
        <p:spPr>
          <a:xfrm>
            <a:off x="793790" y="1693902"/>
            <a:ext cx="6441996" cy="1175742"/>
          </a:xfrm>
          <a:prstGeom prst="roundRect">
            <a:avLst>
              <a:gd name="adj" fmla="val 9333"/>
            </a:avLst>
          </a:prstGeom>
          <a:solidFill>
            <a:srgbClr val="FFFFFF"/>
          </a:solidFill>
          <a:ln/>
        </p:spPr>
      </p:sp>
      <p:sp>
        <p:nvSpPr>
          <p:cNvPr id="4" name="Shape 2"/>
          <p:cNvSpPr/>
          <p:nvPr/>
        </p:nvSpPr>
        <p:spPr>
          <a:xfrm>
            <a:off x="793790" y="1671042"/>
            <a:ext cx="6441996" cy="91440"/>
          </a:xfrm>
          <a:prstGeom prst="roundRect">
            <a:avLst>
              <a:gd name="adj" fmla="val 72930"/>
            </a:avLst>
          </a:prstGeom>
          <a:solidFill>
            <a:srgbClr val="F16054"/>
          </a:solidFill>
          <a:ln/>
        </p:spPr>
      </p:sp>
      <p:sp>
        <p:nvSpPr>
          <p:cNvPr id="5" name="Shape 3"/>
          <p:cNvSpPr/>
          <p:nvPr/>
        </p:nvSpPr>
        <p:spPr>
          <a:xfrm>
            <a:off x="3776662" y="1455777"/>
            <a:ext cx="476250" cy="476250"/>
          </a:xfrm>
          <a:prstGeom prst="roundRect">
            <a:avLst>
              <a:gd name="adj" fmla="val 192000"/>
            </a:avLst>
          </a:prstGeom>
          <a:solidFill>
            <a:srgbClr val="F16054"/>
          </a:solidFill>
          <a:ln/>
        </p:spPr>
      </p:sp>
      <p:sp>
        <p:nvSpPr>
          <p:cNvPr id="6" name="Text 4"/>
          <p:cNvSpPr/>
          <p:nvPr/>
        </p:nvSpPr>
        <p:spPr>
          <a:xfrm>
            <a:off x="3919537" y="1574840"/>
            <a:ext cx="190500" cy="238125"/>
          </a:xfrm>
          <a:prstGeom prst="rect">
            <a:avLst/>
          </a:prstGeom>
          <a:noFill/>
          <a:ln/>
        </p:spPr>
        <p:txBody>
          <a:bodyPr wrap="none" lIns="0" tIns="0" rIns="0" bIns="0" rtlCol="0" anchor="t"/>
          <a:lstStyle/>
          <a:p>
            <a:pPr marL="0" indent="0" algn="l">
              <a:lnSpc>
                <a:spcPts val="2400"/>
              </a:lnSpc>
              <a:buNone/>
            </a:pPr>
            <a:r>
              <a:rPr lang="en-US" sz="1500" b="1" dirty="0">
                <a:solidFill>
                  <a:srgbClr val="000000"/>
                </a:solidFill>
                <a:latin typeface="Poppins Bold" pitchFamily="34" charset="0"/>
                <a:ea typeface="Poppins Bold" pitchFamily="34" charset="-122"/>
                <a:cs typeface="Poppins Bold" pitchFamily="34" charset="-120"/>
              </a:rPr>
              <a:t>1</a:t>
            </a:r>
            <a:endParaRPr lang="en-US" sz="1500" dirty="0"/>
          </a:p>
        </p:txBody>
      </p:sp>
      <p:sp>
        <p:nvSpPr>
          <p:cNvPr id="7" name="Text 5"/>
          <p:cNvSpPr/>
          <p:nvPr/>
        </p:nvSpPr>
        <p:spPr>
          <a:xfrm>
            <a:off x="975360" y="2090738"/>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Poppins Bold" pitchFamily="34" charset="0"/>
                <a:ea typeface="Poppins Bold" pitchFamily="34" charset="-122"/>
                <a:cs typeface="Poppins Bold" pitchFamily="34" charset="-120"/>
              </a:rPr>
              <a:t>User Registration</a:t>
            </a:r>
            <a:endParaRPr lang="en-US" sz="1550" dirty="0"/>
          </a:p>
        </p:txBody>
      </p:sp>
      <p:sp>
        <p:nvSpPr>
          <p:cNvPr id="8" name="Text 6"/>
          <p:cNvSpPr/>
          <p:nvPr/>
        </p:nvSpPr>
        <p:spPr>
          <a:xfrm>
            <a:off x="975360" y="2433995"/>
            <a:ext cx="6078855"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Poppins" pitchFamily="34" charset="0"/>
                <a:ea typeface="Poppins" pitchFamily="34" charset="-122"/>
                <a:cs typeface="Poppins" pitchFamily="34" charset="-120"/>
              </a:rPr>
              <a:t>Account creation, email verification, password recovery.</a:t>
            </a:r>
            <a:endParaRPr lang="en-US" sz="1250" dirty="0"/>
          </a:p>
        </p:txBody>
      </p:sp>
      <p:sp>
        <p:nvSpPr>
          <p:cNvPr id="9" name="Shape 7"/>
          <p:cNvSpPr/>
          <p:nvPr/>
        </p:nvSpPr>
        <p:spPr>
          <a:xfrm>
            <a:off x="7394496" y="1693902"/>
            <a:ext cx="6442115" cy="1175742"/>
          </a:xfrm>
          <a:prstGeom prst="roundRect">
            <a:avLst>
              <a:gd name="adj" fmla="val 9333"/>
            </a:avLst>
          </a:prstGeom>
          <a:solidFill>
            <a:srgbClr val="FFFFFF"/>
          </a:solidFill>
          <a:ln/>
        </p:spPr>
      </p:sp>
      <p:sp>
        <p:nvSpPr>
          <p:cNvPr id="10" name="Shape 8"/>
          <p:cNvSpPr/>
          <p:nvPr/>
        </p:nvSpPr>
        <p:spPr>
          <a:xfrm>
            <a:off x="7394496" y="1671042"/>
            <a:ext cx="6442115" cy="91440"/>
          </a:xfrm>
          <a:prstGeom prst="roundRect">
            <a:avLst>
              <a:gd name="adj" fmla="val 72930"/>
            </a:avLst>
          </a:prstGeom>
          <a:solidFill>
            <a:srgbClr val="F16054"/>
          </a:solidFill>
          <a:ln/>
        </p:spPr>
      </p:sp>
      <p:sp>
        <p:nvSpPr>
          <p:cNvPr id="11" name="Shape 9"/>
          <p:cNvSpPr/>
          <p:nvPr/>
        </p:nvSpPr>
        <p:spPr>
          <a:xfrm>
            <a:off x="10377368" y="1455777"/>
            <a:ext cx="476250" cy="476250"/>
          </a:xfrm>
          <a:prstGeom prst="roundRect">
            <a:avLst>
              <a:gd name="adj" fmla="val 192000"/>
            </a:avLst>
          </a:prstGeom>
          <a:solidFill>
            <a:srgbClr val="F16054"/>
          </a:solidFill>
          <a:ln/>
        </p:spPr>
      </p:sp>
      <p:sp>
        <p:nvSpPr>
          <p:cNvPr id="12" name="Text 10"/>
          <p:cNvSpPr/>
          <p:nvPr/>
        </p:nvSpPr>
        <p:spPr>
          <a:xfrm>
            <a:off x="10520243" y="1574840"/>
            <a:ext cx="190500" cy="238125"/>
          </a:xfrm>
          <a:prstGeom prst="rect">
            <a:avLst/>
          </a:prstGeom>
          <a:noFill/>
          <a:ln/>
        </p:spPr>
        <p:txBody>
          <a:bodyPr wrap="none" lIns="0" tIns="0" rIns="0" bIns="0" rtlCol="0" anchor="t"/>
          <a:lstStyle/>
          <a:p>
            <a:pPr marL="0" indent="0" algn="l">
              <a:lnSpc>
                <a:spcPts val="2400"/>
              </a:lnSpc>
              <a:buNone/>
            </a:pPr>
            <a:r>
              <a:rPr lang="en-US" sz="1500" b="1" dirty="0">
                <a:solidFill>
                  <a:srgbClr val="000000"/>
                </a:solidFill>
                <a:latin typeface="Poppins Bold" pitchFamily="34" charset="0"/>
                <a:ea typeface="Poppins Bold" pitchFamily="34" charset="-122"/>
                <a:cs typeface="Poppins Bold" pitchFamily="34" charset="-120"/>
              </a:rPr>
              <a:t>2</a:t>
            </a:r>
            <a:endParaRPr lang="en-US" sz="1500" dirty="0"/>
          </a:p>
        </p:txBody>
      </p:sp>
      <p:sp>
        <p:nvSpPr>
          <p:cNvPr id="13" name="Text 11"/>
          <p:cNvSpPr/>
          <p:nvPr/>
        </p:nvSpPr>
        <p:spPr>
          <a:xfrm>
            <a:off x="7576066" y="2090738"/>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Poppins Bold" pitchFamily="34" charset="0"/>
                <a:ea typeface="Poppins Bold" pitchFamily="34" charset="-122"/>
                <a:cs typeface="Poppins Bold" pitchFamily="34" charset="-120"/>
              </a:rPr>
              <a:t>Assessments</a:t>
            </a:r>
            <a:endParaRPr lang="en-US" sz="1550" dirty="0"/>
          </a:p>
        </p:txBody>
      </p:sp>
      <p:sp>
        <p:nvSpPr>
          <p:cNvPr id="14" name="Text 12"/>
          <p:cNvSpPr/>
          <p:nvPr/>
        </p:nvSpPr>
        <p:spPr>
          <a:xfrm>
            <a:off x="7576066" y="2433995"/>
            <a:ext cx="6078974"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Poppins" pitchFamily="34" charset="0"/>
                <a:ea typeface="Poppins" pitchFamily="34" charset="-122"/>
                <a:cs typeface="Poppins" pitchFamily="34" charset="-120"/>
              </a:rPr>
              <a:t>PHQ-9, GAD-7, PSS-10 with instant severity scores.</a:t>
            </a:r>
            <a:endParaRPr lang="en-US" sz="1250" dirty="0"/>
          </a:p>
        </p:txBody>
      </p:sp>
      <p:sp>
        <p:nvSpPr>
          <p:cNvPr id="15" name="Shape 13"/>
          <p:cNvSpPr/>
          <p:nvPr/>
        </p:nvSpPr>
        <p:spPr>
          <a:xfrm>
            <a:off x="793790" y="3266480"/>
            <a:ext cx="6441996" cy="1175742"/>
          </a:xfrm>
          <a:prstGeom prst="roundRect">
            <a:avLst>
              <a:gd name="adj" fmla="val 9333"/>
            </a:avLst>
          </a:prstGeom>
          <a:solidFill>
            <a:srgbClr val="FFFFFF"/>
          </a:solidFill>
          <a:ln/>
        </p:spPr>
        <p:txBody>
          <a:bodyPr/>
          <a:lstStyle/>
          <a:p>
            <a:endParaRPr lang="bn-BD" dirty="0"/>
          </a:p>
        </p:txBody>
      </p:sp>
      <p:sp>
        <p:nvSpPr>
          <p:cNvPr id="16" name="Shape 14"/>
          <p:cNvSpPr/>
          <p:nvPr/>
        </p:nvSpPr>
        <p:spPr>
          <a:xfrm>
            <a:off x="793790" y="3243620"/>
            <a:ext cx="6441996" cy="91440"/>
          </a:xfrm>
          <a:prstGeom prst="roundRect">
            <a:avLst>
              <a:gd name="adj" fmla="val 72930"/>
            </a:avLst>
          </a:prstGeom>
          <a:solidFill>
            <a:srgbClr val="F16054"/>
          </a:solidFill>
          <a:ln/>
        </p:spPr>
      </p:sp>
      <p:sp>
        <p:nvSpPr>
          <p:cNvPr id="17" name="Shape 15"/>
          <p:cNvSpPr/>
          <p:nvPr/>
        </p:nvSpPr>
        <p:spPr>
          <a:xfrm>
            <a:off x="3776662" y="3028355"/>
            <a:ext cx="476250" cy="476250"/>
          </a:xfrm>
          <a:prstGeom prst="roundRect">
            <a:avLst>
              <a:gd name="adj" fmla="val 192000"/>
            </a:avLst>
          </a:prstGeom>
          <a:solidFill>
            <a:srgbClr val="F16054"/>
          </a:solidFill>
          <a:ln/>
        </p:spPr>
      </p:sp>
      <p:sp>
        <p:nvSpPr>
          <p:cNvPr id="18" name="Text 16"/>
          <p:cNvSpPr/>
          <p:nvPr/>
        </p:nvSpPr>
        <p:spPr>
          <a:xfrm>
            <a:off x="3919537" y="3147417"/>
            <a:ext cx="190500" cy="238125"/>
          </a:xfrm>
          <a:prstGeom prst="rect">
            <a:avLst/>
          </a:prstGeom>
          <a:noFill/>
          <a:ln/>
        </p:spPr>
        <p:txBody>
          <a:bodyPr wrap="none" lIns="0" tIns="0" rIns="0" bIns="0" rtlCol="0" anchor="t"/>
          <a:lstStyle/>
          <a:p>
            <a:pPr marL="0" indent="0" algn="l">
              <a:lnSpc>
                <a:spcPts val="2400"/>
              </a:lnSpc>
              <a:buNone/>
            </a:pPr>
            <a:r>
              <a:rPr lang="en-US" sz="1500" b="1" dirty="0">
                <a:solidFill>
                  <a:srgbClr val="000000"/>
                </a:solidFill>
                <a:latin typeface="Poppins Bold" pitchFamily="34" charset="0"/>
                <a:ea typeface="Poppins Bold" pitchFamily="34" charset="-122"/>
                <a:cs typeface="Poppins Bold" pitchFamily="34" charset="-120"/>
              </a:rPr>
              <a:t>3</a:t>
            </a:r>
            <a:endParaRPr lang="en-US" sz="1500" dirty="0"/>
          </a:p>
        </p:txBody>
      </p:sp>
      <p:sp>
        <p:nvSpPr>
          <p:cNvPr id="19" name="Text 17"/>
          <p:cNvSpPr/>
          <p:nvPr/>
        </p:nvSpPr>
        <p:spPr>
          <a:xfrm>
            <a:off x="975360" y="3663315"/>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Poppins Bold" pitchFamily="34" charset="0"/>
                <a:ea typeface="Poppins Bold" pitchFamily="34" charset="-122"/>
                <a:cs typeface="Poppins Bold" pitchFamily="34" charset="-120"/>
              </a:rPr>
              <a:t>Resource Management</a:t>
            </a:r>
            <a:endParaRPr lang="en-US" sz="1550" dirty="0"/>
          </a:p>
        </p:txBody>
      </p:sp>
      <p:sp>
        <p:nvSpPr>
          <p:cNvPr id="20" name="Text 18"/>
          <p:cNvSpPr/>
          <p:nvPr/>
        </p:nvSpPr>
        <p:spPr>
          <a:xfrm>
            <a:off x="975360" y="4006572"/>
            <a:ext cx="6078855" cy="254079"/>
          </a:xfrm>
          <a:prstGeom prst="rect">
            <a:avLst/>
          </a:prstGeom>
          <a:noFill/>
          <a:ln/>
        </p:spPr>
        <p:txBody>
          <a:bodyPr wrap="none" lIns="0" tIns="0" rIns="0" bIns="0" rtlCol="0" anchor="t"/>
          <a:lstStyle/>
          <a:p>
            <a:pPr marL="0" indent="0" algn="l">
              <a:lnSpc>
                <a:spcPts val="2000"/>
              </a:lnSpc>
              <a:buNone/>
            </a:pPr>
            <a:endParaRPr lang="en-US" sz="1250" dirty="0"/>
          </a:p>
        </p:txBody>
      </p:sp>
      <p:sp>
        <p:nvSpPr>
          <p:cNvPr id="21" name="Shape 19"/>
          <p:cNvSpPr/>
          <p:nvPr/>
        </p:nvSpPr>
        <p:spPr>
          <a:xfrm>
            <a:off x="7394496" y="3266480"/>
            <a:ext cx="6442115" cy="1175742"/>
          </a:xfrm>
          <a:prstGeom prst="roundRect">
            <a:avLst>
              <a:gd name="adj" fmla="val 9333"/>
            </a:avLst>
          </a:prstGeom>
          <a:solidFill>
            <a:srgbClr val="FFFFFF"/>
          </a:solidFill>
          <a:ln/>
        </p:spPr>
      </p:sp>
      <p:sp>
        <p:nvSpPr>
          <p:cNvPr id="22" name="Shape 20"/>
          <p:cNvSpPr/>
          <p:nvPr/>
        </p:nvSpPr>
        <p:spPr>
          <a:xfrm>
            <a:off x="7394496" y="3243620"/>
            <a:ext cx="6442115" cy="91440"/>
          </a:xfrm>
          <a:prstGeom prst="roundRect">
            <a:avLst>
              <a:gd name="adj" fmla="val 72930"/>
            </a:avLst>
          </a:prstGeom>
          <a:solidFill>
            <a:srgbClr val="F16054"/>
          </a:solidFill>
          <a:ln/>
        </p:spPr>
      </p:sp>
      <p:sp>
        <p:nvSpPr>
          <p:cNvPr id="23" name="Shape 21"/>
          <p:cNvSpPr/>
          <p:nvPr/>
        </p:nvSpPr>
        <p:spPr>
          <a:xfrm>
            <a:off x="10377368" y="3028355"/>
            <a:ext cx="476250" cy="476250"/>
          </a:xfrm>
          <a:prstGeom prst="roundRect">
            <a:avLst>
              <a:gd name="adj" fmla="val 192000"/>
            </a:avLst>
          </a:prstGeom>
          <a:solidFill>
            <a:srgbClr val="F16054"/>
          </a:solidFill>
          <a:ln/>
        </p:spPr>
      </p:sp>
      <p:sp>
        <p:nvSpPr>
          <p:cNvPr id="24" name="Text 22"/>
          <p:cNvSpPr/>
          <p:nvPr/>
        </p:nvSpPr>
        <p:spPr>
          <a:xfrm>
            <a:off x="10520243" y="3147417"/>
            <a:ext cx="190500" cy="238125"/>
          </a:xfrm>
          <a:prstGeom prst="rect">
            <a:avLst/>
          </a:prstGeom>
          <a:noFill/>
          <a:ln/>
        </p:spPr>
        <p:txBody>
          <a:bodyPr wrap="none" lIns="0" tIns="0" rIns="0" bIns="0" rtlCol="0" anchor="t"/>
          <a:lstStyle/>
          <a:p>
            <a:pPr marL="0" indent="0" algn="l">
              <a:lnSpc>
                <a:spcPts val="2400"/>
              </a:lnSpc>
              <a:buNone/>
            </a:pPr>
            <a:r>
              <a:rPr lang="en-US" sz="1500" b="1" dirty="0">
                <a:solidFill>
                  <a:srgbClr val="000000"/>
                </a:solidFill>
                <a:latin typeface="Poppins Bold" pitchFamily="34" charset="0"/>
                <a:ea typeface="Poppins Bold" pitchFamily="34" charset="-122"/>
                <a:cs typeface="Poppins Bold" pitchFamily="34" charset="-120"/>
              </a:rPr>
              <a:t>4</a:t>
            </a:r>
            <a:endParaRPr lang="en-US" sz="1500" dirty="0"/>
          </a:p>
        </p:txBody>
      </p:sp>
      <p:sp>
        <p:nvSpPr>
          <p:cNvPr id="25" name="Text 23"/>
          <p:cNvSpPr/>
          <p:nvPr/>
        </p:nvSpPr>
        <p:spPr>
          <a:xfrm>
            <a:off x="7576066" y="3663315"/>
            <a:ext cx="2181582"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Poppins Bold" pitchFamily="34" charset="0"/>
                <a:ea typeface="Poppins Bold" pitchFamily="34" charset="-122"/>
                <a:cs typeface="Poppins Bold" pitchFamily="34" charset="-120"/>
              </a:rPr>
              <a:t>Doctor Search &amp; View</a:t>
            </a:r>
            <a:endParaRPr lang="en-US" sz="1550" dirty="0"/>
          </a:p>
        </p:txBody>
      </p:sp>
      <p:sp>
        <p:nvSpPr>
          <p:cNvPr id="26" name="Text 24"/>
          <p:cNvSpPr/>
          <p:nvPr/>
        </p:nvSpPr>
        <p:spPr>
          <a:xfrm>
            <a:off x="7576066" y="4006572"/>
            <a:ext cx="6078974"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Poppins" pitchFamily="34" charset="0"/>
                <a:ea typeface="Poppins" pitchFamily="34" charset="-122"/>
                <a:cs typeface="Poppins" pitchFamily="34" charset="-120"/>
              </a:rPr>
              <a:t>Filter by specialty, fee, view detailed profiles.</a:t>
            </a:r>
            <a:endParaRPr lang="en-US" sz="1250" dirty="0"/>
          </a:p>
        </p:txBody>
      </p:sp>
      <p:sp>
        <p:nvSpPr>
          <p:cNvPr id="27" name="Shape 25"/>
          <p:cNvSpPr/>
          <p:nvPr/>
        </p:nvSpPr>
        <p:spPr>
          <a:xfrm>
            <a:off x="793790" y="4839057"/>
            <a:ext cx="6441996" cy="1175742"/>
          </a:xfrm>
          <a:prstGeom prst="roundRect">
            <a:avLst>
              <a:gd name="adj" fmla="val 9333"/>
            </a:avLst>
          </a:prstGeom>
          <a:solidFill>
            <a:srgbClr val="FFFFFF"/>
          </a:solidFill>
          <a:ln/>
        </p:spPr>
      </p:sp>
      <p:sp>
        <p:nvSpPr>
          <p:cNvPr id="28" name="Shape 26"/>
          <p:cNvSpPr/>
          <p:nvPr/>
        </p:nvSpPr>
        <p:spPr>
          <a:xfrm>
            <a:off x="793790" y="4816197"/>
            <a:ext cx="6441996" cy="91440"/>
          </a:xfrm>
          <a:prstGeom prst="roundRect">
            <a:avLst>
              <a:gd name="adj" fmla="val 72930"/>
            </a:avLst>
          </a:prstGeom>
          <a:solidFill>
            <a:srgbClr val="F16054"/>
          </a:solidFill>
          <a:ln/>
        </p:spPr>
      </p:sp>
      <p:sp>
        <p:nvSpPr>
          <p:cNvPr id="29" name="Shape 27"/>
          <p:cNvSpPr/>
          <p:nvPr/>
        </p:nvSpPr>
        <p:spPr>
          <a:xfrm>
            <a:off x="3776662" y="4600932"/>
            <a:ext cx="476250" cy="476250"/>
          </a:xfrm>
          <a:prstGeom prst="roundRect">
            <a:avLst>
              <a:gd name="adj" fmla="val 192000"/>
            </a:avLst>
          </a:prstGeom>
          <a:solidFill>
            <a:srgbClr val="F16054"/>
          </a:solidFill>
          <a:ln/>
        </p:spPr>
      </p:sp>
      <p:sp>
        <p:nvSpPr>
          <p:cNvPr id="30" name="Text 28"/>
          <p:cNvSpPr/>
          <p:nvPr/>
        </p:nvSpPr>
        <p:spPr>
          <a:xfrm>
            <a:off x="3919537" y="4719995"/>
            <a:ext cx="190500" cy="238125"/>
          </a:xfrm>
          <a:prstGeom prst="rect">
            <a:avLst/>
          </a:prstGeom>
          <a:noFill/>
          <a:ln/>
        </p:spPr>
        <p:txBody>
          <a:bodyPr wrap="none" lIns="0" tIns="0" rIns="0" bIns="0" rtlCol="0" anchor="t"/>
          <a:lstStyle/>
          <a:p>
            <a:pPr marL="0" indent="0" algn="l">
              <a:lnSpc>
                <a:spcPts val="2400"/>
              </a:lnSpc>
              <a:buNone/>
            </a:pPr>
            <a:r>
              <a:rPr lang="en-US" sz="1500" b="1" dirty="0">
                <a:solidFill>
                  <a:srgbClr val="000000"/>
                </a:solidFill>
                <a:latin typeface="Poppins Bold" pitchFamily="34" charset="0"/>
                <a:ea typeface="Poppins Bold" pitchFamily="34" charset="-122"/>
                <a:cs typeface="Poppins Bold" pitchFamily="34" charset="-120"/>
              </a:rPr>
              <a:t>5</a:t>
            </a:r>
            <a:endParaRPr lang="en-US" sz="1500" dirty="0"/>
          </a:p>
        </p:txBody>
      </p:sp>
      <p:sp>
        <p:nvSpPr>
          <p:cNvPr id="31" name="Text 29"/>
          <p:cNvSpPr/>
          <p:nvPr/>
        </p:nvSpPr>
        <p:spPr>
          <a:xfrm>
            <a:off x="975360" y="5235892"/>
            <a:ext cx="223611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Poppins Bold" pitchFamily="34" charset="0"/>
                <a:ea typeface="Poppins Bold" pitchFamily="34" charset="-122"/>
                <a:cs typeface="Poppins Bold" pitchFamily="34" charset="-120"/>
              </a:rPr>
              <a:t>Appointment Booking</a:t>
            </a:r>
            <a:endParaRPr lang="en-US" sz="1550" dirty="0"/>
          </a:p>
        </p:txBody>
      </p:sp>
      <p:sp>
        <p:nvSpPr>
          <p:cNvPr id="32" name="Text 30"/>
          <p:cNvSpPr/>
          <p:nvPr/>
        </p:nvSpPr>
        <p:spPr>
          <a:xfrm>
            <a:off x="975360" y="5579150"/>
            <a:ext cx="6078855"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Poppins" pitchFamily="34" charset="0"/>
                <a:ea typeface="Poppins" pitchFamily="34" charset="-122"/>
                <a:cs typeface="Poppins" pitchFamily="34" charset="-120"/>
              </a:rPr>
              <a:t>Reserve slots, secure payment via bKash.</a:t>
            </a:r>
            <a:endParaRPr lang="en-US" sz="1250" dirty="0"/>
          </a:p>
        </p:txBody>
      </p:sp>
      <p:sp>
        <p:nvSpPr>
          <p:cNvPr id="33" name="Shape 31"/>
          <p:cNvSpPr/>
          <p:nvPr/>
        </p:nvSpPr>
        <p:spPr>
          <a:xfrm>
            <a:off x="7394496" y="4839057"/>
            <a:ext cx="6442115" cy="1175742"/>
          </a:xfrm>
          <a:prstGeom prst="roundRect">
            <a:avLst>
              <a:gd name="adj" fmla="val 9333"/>
            </a:avLst>
          </a:prstGeom>
          <a:solidFill>
            <a:srgbClr val="FFFFFF"/>
          </a:solidFill>
          <a:ln/>
        </p:spPr>
      </p:sp>
      <p:sp>
        <p:nvSpPr>
          <p:cNvPr id="34" name="Shape 32"/>
          <p:cNvSpPr/>
          <p:nvPr/>
        </p:nvSpPr>
        <p:spPr>
          <a:xfrm>
            <a:off x="7394496" y="4816197"/>
            <a:ext cx="6442115" cy="91440"/>
          </a:xfrm>
          <a:prstGeom prst="roundRect">
            <a:avLst>
              <a:gd name="adj" fmla="val 72930"/>
            </a:avLst>
          </a:prstGeom>
          <a:solidFill>
            <a:srgbClr val="F16054"/>
          </a:solidFill>
          <a:ln/>
        </p:spPr>
      </p:sp>
      <p:sp>
        <p:nvSpPr>
          <p:cNvPr id="35" name="Shape 33"/>
          <p:cNvSpPr/>
          <p:nvPr/>
        </p:nvSpPr>
        <p:spPr>
          <a:xfrm>
            <a:off x="10377368" y="4600932"/>
            <a:ext cx="476250" cy="476250"/>
          </a:xfrm>
          <a:prstGeom prst="roundRect">
            <a:avLst>
              <a:gd name="adj" fmla="val 192000"/>
            </a:avLst>
          </a:prstGeom>
          <a:solidFill>
            <a:srgbClr val="F16054"/>
          </a:solidFill>
          <a:ln/>
        </p:spPr>
      </p:sp>
      <p:sp>
        <p:nvSpPr>
          <p:cNvPr id="36" name="Text 34"/>
          <p:cNvSpPr/>
          <p:nvPr/>
        </p:nvSpPr>
        <p:spPr>
          <a:xfrm>
            <a:off x="10520243" y="4719995"/>
            <a:ext cx="190500" cy="238125"/>
          </a:xfrm>
          <a:prstGeom prst="rect">
            <a:avLst/>
          </a:prstGeom>
          <a:noFill/>
          <a:ln/>
        </p:spPr>
        <p:txBody>
          <a:bodyPr wrap="none" lIns="0" tIns="0" rIns="0" bIns="0" rtlCol="0" anchor="t"/>
          <a:lstStyle/>
          <a:p>
            <a:pPr marL="0" indent="0" algn="l">
              <a:lnSpc>
                <a:spcPts val="2400"/>
              </a:lnSpc>
              <a:buNone/>
            </a:pPr>
            <a:r>
              <a:rPr lang="en-US" sz="1500" b="1" dirty="0">
                <a:solidFill>
                  <a:srgbClr val="000000"/>
                </a:solidFill>
                <a:latin typeface="Poppins Bold" pitchFamily="34" charset="0"/>
                <a:ea typeface="Poppins Bold" pitchFamily="34" charset="-122"/>
                <a:cs typeface="Poppins Bold" pitchFamily="34" charset="-120"/>
              </a:rPr>
              <a:t>6</a:t>
            </a:r>
            <a:endParaRPr lang="en-US" sz="1500" dirty="0"/>
          </a:p>
        </p:txBody>
      </p:sp>
      <p:sp>
        <p:nvSpPr>
          <p:cNvPr id="37" name="Text 35"/>
          <p:cNvSpPr/>
          <p:nvPr/>
        </p:nvSpPr>
        <p:spPr>
          <a:xfrm>
            <a:off x="7576066" y="5235892"/>
            <a:ext cx="2669381"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Poppins Bold" pitchFamily="34" charset="0"/>
                <a:ea typeface="Poppins Bold" pitchFamily="34" charset="-122"/>
                <a:cs typeface="Poppins Bold" pitchFamily="34" charset="-120"/>
              </a:rPr>
              <a:t>Prescription Management</a:t>
            </a:r>
            <a:endParaRPr lang="en-US" sz="1550" dirty="0"/>
          </a:p>
        </p:txBody>
      </p:sp>
      <p:sp>
        <p:nvSpPr>
          <p:cNvPr id="38" name="Text 36"/>
          <p:cNvSpPr/>
          <p:nvPr/>
        </p:nvSpPr>
        <p:spPr>
          <a:xfrm>
            <a:off x="7576066" y="5579150"/>
            <a:ext cx="6078974"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Poppins" pitchFamily="34" charset="0"/>
                <a:ea typeface="Poppins" pitchFamily="34" charset="-122"/>
                <a:cs typeface="Poppins" pitchFamily="34" charset="-120"/>
              </a:rPr>
              <a:t>Doctors create, patients access digital prescriptions.</a:t>
            </a:r>
            <a:endParaRPr lang="en-US" sz="1250" dirty="0"/>
          </a:p>
        </p:txBody>
      </p:sp>
      <p:sp>
        <p:nvSpPr>
          <p:cNvPr id="39" name="Shape 37"/>
          <p:cNvSpPr/>
          <p:nvPr/>
        </p:nvSpPr>
        <p:spPr>
          <a:xfrm>
            <a:off x="793790" y="6411635"/>
            <a:ext cx="6441996" cy="1175742"/>
          </a:xfrm>
          <a:prstGeom prst="roundRect">
            <a:avLst>
              <a:gd name="adj" fmla="val 9333"/>
            </a:avLst>
          </a:prstGeom>
          <a:solidFill>
            <a:srgbClr val="FFFFFF"/>
          </a:solidFill>
          <a:ln/>
        </p:spPr>
      </p:sp>
      <p:sp>
        <p:nvSpPr>
          <p:cNvPr id="40" name="Shape 38"/>
          <p:cNvSpPr/>
          <p:nvPr/>
        </p:nvSpPr>
        <p:spPr>
          <a:xfrm>
            <a:off x="793790" y="6388775"/>
            <a:ext cx="6441996" cy="91440"/>
          </a:xfrm>
          <a:prstGeom prst="roundRect">
            <a:avLst>
              <a:gd name="adj" fmla="val 72930"/>
            </a:avLst>
          </a:prstGeom>
          <a:solidFill>
            <a:srgbClr val="F16054"/>
          </a:solidFill>
          <a:ln/>
        </p:spPr>
      </p:sp>
      <p:sp>
        <p:nvSpPr>
          <p:cNvPr id="41" name="Shape 39"/>
          <p:cNvSpPr/>
          <p:nvPr/>
        </p:nvSpPr>
        <p:spPr>
          <a:xfrm>
            <a:off x="3776662" y="6173510"/>
            <a:ext cx="476250" cy="476250"/>
          </a:xfrm>
          <a:prstGeom prst="roundRect">
            <a:avLst>
              <a:gd name="adj" fmla="val 192000"/>
            </a:avLst>
          </a:prstGeom>
          <a:solidFill>
            <a:srgbClr val="F16054"/>
          </a:solidFill>
          <a:ln/>
        </p:spPr>
      </p:sp>
      <p:sp>
        <p:nvSpPr>
          <p:cNvPr id="42" name="Text 40"/>
          <p:cNvSpPr/>
          <p:nvPr/>
        </p:nvSpPr>
        <p:spPr>
          <a:xfrm>
            <a:off x="3919537" y="6292572"/>
            <a:ext cx="190500" cy="238125"/>
          </a:xfrm>
          <a:prstGeom prst="rect">
            <a:avLst/>
          </a:prstGeom>
          <a:noFill/>
          <a:ln/>
        </p:spPr>
        <p:txBody>
          <a:bodyPr wrap="none" lIns="0" tIns="0" rIns="0" bIns="0" rtlCol="0" anchor="t"/>
          <a:lstStyle/>
          <a:p>
            <a:pPr marL="0" indent="0" algn="l">
              <a:lnSpc>
                <a:spcPts val="2400"/>
              </a:lnSpc>
              <a:buNone/>
            </a:pPr>
            <a:r>
              <a:rPr lang="en-US" sz="1500" b="1" dirty="0">
                <a:solidFill>
                  <a:srgbClr val="000000"/>
                </a:solidFill>
                <a:latin typeface="Poppins Bold" pitchFamily="34" charset="0"/>
                <a:ea typeface="Poppins Bold" pitchFamily="34" charset="-122"/>
                <a:cs typeface="Poppins Bold" pitchFamily="34" charset="-120"/>
              </a:rPr>
              <a:t>7</a:t>
            </a:r>
            <a:endParaRPr lang="en-US" sz="1500" dirty="0"/>
          </a:p>
        </p:txBody>
      </p:sp>
      <p:sp>
        <p:nvSpPr>
          <p:cNvPr id="43" name="Text 41"/>
          <p:cNvSpPr/>
          <p:nvPr/>
        </p:nvSpPr>
        <p:spPr>
          <a:xfrm>
            <a:off x="975360" y="6808470"/>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Poppins Bold" pitchFamily="34" charset="0"/>
                <a:ea typeface="Poppins Bold" pitchFamily="34" charset="-122"/>
                <a:cs typeface="Poppins Bold" pitchFamily="34" charset="-120"/>
              </a:rPr>
              <a:t>Q&amp;A Section</a:t>
            </a:r>
            <a:endParaRPr lang="en-US" sz="1550" dirty="0"/>
          </a:p>
        </p:txBody>
      </p:sp>
      <p:sp>
        <p:nvSpPr>
          <p:cNvPr id="44" name="Text 42"/>
          <p:cNvSpPr/>
          <p:nvPr/>
        </p:nvSpPr>
        <p:spPr>
          <a:xfrm>
            <a:off x="975360" y="7151727"/>
            <a:ext cx="6078855"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Poppins" pitchFamily="34" charset="0"/>
                <a:ea typeface="Poppins" pitchFamily="34" charset="-122"/>
                <a:cs typeface="Poppins" pitchFamily="34" charset="-120"/>
              </a:rPr>
              <a:t>Patients post questions, doctors provide moderated responses.</a:t>
            </a:r>
            <a:endParaRPr lang="en-US" sz="1250" dirty="0"/>
          </a:p>
        </p:txBody>
      </p:sp>
      <p:sp>
        <p:nvSpPr>
          <p:cNvPr id="45" name="Shape 43"/>
          <p:cNvSpPr/>
          <p:nvPr/>
        </p:nvSpPr>
        <p:spPr>
          <a:xfrm>
            <a:off x="7394496" y="6411635"/>
            <a:ext cx="6442115" cy="1175742"/>
          </a:xfrm>
          <a:prstGeom prst="roundRect">
            <a:avLst>
              <a:gd name="adj" fmla="val 9333"/>
            </a:avLst>
          </a:prstGeom>
          <a:solidFill>
            <a:srgbClr val="FFFFFF"/>
          </a:solidFill>
          <a:ln/>
        </p:spPr>
      </p:sp>
      <p:sp>
        <p:nvSpPr>
          <p:cNvPr id="46" name="Shape 44"/>
          <p:cNvSpPr/>
          <p:nvPr/>
        </p:nvSpPr>
        <p:spPr>
          <a:xfrm>
            <a:off x="7394496" y="6388775"/>
            <a:ext cx="6442115" cy="91440"/>
          </a:xfrm>
          <a:prstGeom prst="roundRect">
            <a:avLst>
              <a:gd name="adj" fmla="val 72930"/>
            </a:avLst>
          </a:prstGeom>
          <a:solidFill>
            <a:srgbClr val="F16054"/>
          </a:solidFill>
          <a:ln/>
        </p:spPr>
      </p:sp>
      <p:sp>
        <p:nvSpPr>
          <p:cNvPr id="47" name="Shape 45"/>
          <p:cNvSpPr/>
          <p:nvPr/>
        </p:nvSpPr>
        <p:spPr>
          <a:xfrm>
            <a:off x="10377368" y="6173510"/>
            <a:ext cx="476250" cy="476250"/>
          </a:xfrm>
          <a:prstGeom prst="roundRect">
            <a:avLst>
              <a:gd name="adj" fmla="val 192000"/>
            </a:avLst>
          </a:prstGeom>
          <a:solidFill>
            <a:srgbClr val="F16054"/>
          </a:solidFill>
          <a:ln/>
        </p:spPr>
      </p:sp>
      <p:sp>
        <p:nvSpPr>
          <p:cNvPr id="48" name="Text 46"/>
          <p:cNvSpPr/>
          <p:nvPr/>
        </p:nvSpPr>
        <p:spPr>
          <a:xfrm>
            <a:off x="10520243" y="6292572"/>
            <a:ext cx="190500" cy="238125"/>
          </a:xfrm>
          <a:prstGeom prst="rect">
            <a:avLst/>
          </a:prstGeom>
          <a:noFill/>
          <a:ln/>
        </p:spPr>
        <p:txBody>
          <a:bodyPr wrap="none" lIns="0" tIns="0" rIns="0" bIns="0" rtlCol="0" anchor="t"/>
          <a:lstStyle/>
          <a:p>
            <a:pPr marL="0" indent="0" algn="l">
              <a:lnSpc>
                <a:spcPts val="2400"/>
              </a:lnSpc>
              <a:buNone/>
            </a:pPr>
            <a:r>
              <a:rPr lang="en-US" sz="1500" b="1" dirty="0">
                <a:solidFill>
                  <a:srgbClr val="000000"/>
                </a:solidFill>
                <a:latin typeface="Poppins Bold" pitchFamily="34" charset="0"/>
                <a:ea typeface="Poppins Bold" pitchFamily="34" charset="-122"/>
                <a:cs typeface="Poppins Bold" pitchFamily="34" charset="-120"/>
              </a:rPr>
              <a:t>8</a:t>
            </a:r>
            <a:endParaRPr lang="en-US" sz="1500" dirty="0"/>
          </a:p>
        </p:txBody>
      </p:sp>
      <p:sp>
        <p:nvSpPr>
          <p:cNvPr id="49" name="Text 47"/>
          <p:cNvSpPr/>
          <p:nvPr/>
        </p:nvSpPr>
        <p:spPr>
          <a:xfrm>
            <a:off x="7576066" y="6808470"/>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Poppins Bold" pitchFamily="34" charset="0"/>
                <a:ea typeface="Poppins Bold" pitchFamily="34" charset="-122"/>
                <a:cs typeface="Poppins Bold" pitchFamily="34" charset="-120"/>
              </a:rPr>
              <a:t>Admin Verification</a:t>
            </a:r>
            <a:endParaRPr lang="en-US" sz="1550" dirty="0"/>
          </a:p>
        </p:txBody>
      </p:sp>
      <p:sp>
        <p:nvSpPr>
          <p:cNvPr id="50" name="Text 48"/>
          <p:cNvSpPr/>
          <p:nvPr/>
        </p:nvSpPr>
        <p:spPr>
          <a:xfrm>
            <a:off x="7576066" y="7151727"/>
            <a:ext cx="6078974"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Poppins" pitchFamily="34" charset="0"/>
                <a:ea typeface="Poppins" pitchFamily="34" charset="-122"/>
                <a:cs typeface="Poppins" pitchFamily="34" charset="-120"/>
              </a:rPr>
              <a:t>Approve doctor documents, set "Verified" status.</a:t>
            </a:r>
            <a:endParaRPr lang="en-US" sz="1250" dirty="0"/>
          </a:p>
        </p:txBody>
      </p:sp>
      <p:sp>
        <p:nvSpPr>
          <p:cNvPr id="51" name="Rectangle 50">
            <a:extLst>
              <a:ext uri="{FF2B5EF4-FFF2-40B4-BE49-F238E27FC236}">
                <a16:creationId xmlns:a16="http://schemas.microsoft.com/office/drawing/2014/main" id="{4EEC392B-B987-F20F-C3E0-8C0AF554FFA0}"/>
              </a:ext>
            </a:extLst>
          </p:cNvPr>
          <p:cNvSpPr/>
          <p:nvPr/>
        </p:nvSpPr>
        <p:spPr>
          <a:xfrm>
            <a:off x="12801600" y="7652657"/>
            <a:ext cx="1992086" cy="576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13">
            <a:extLst>
              <a:ext uri="{FF2B5EF4-FFF2-40B4-BE49-F238E27FC236}">
                <a16:creationId xmlns:a16="http://schemas.microsoft.com/office/drawing/2014/main" id="{E04DA946-DB6A-A884-3D04-F1CB296D50C6}"/>
              </a:ext>
            </a:extLst>
          </p:cNvPr>
          <p:cNvSpPr/>
          <p:nvPr/>
        </p:nvSpPr>
        <p:spPr>
          <a:xfrm>
            <a:off x="5168432" y="1940752"/>
            <a:ext cx="4293537" cy="4348098"/>
          </a:xfrm>
          <a:custGeom>
            <a:avLst/>
            <a:gdLst/>
            <a:ahLst/>
            <a:cxnLst/>
            <a:rect l="l" t="t" r="r" b="b"/>
            <a:pathLst>
              <a:path w="5366921" h="5435123">
                <a:moveTo>
                  <a:pt x="0" y="0"/>
                </a:moveTo>
                <a:lnTo>
                  <a:pt x="5366922" y="0"/>
                </a:lnTo>
                <a:lnTo>
                  <a:pt x="5366922" y="5435122"/>
                </a:lnTo>
                <a:lnTo>
                  <a:pt x="0" y="5435122"/>
                </a:lnTo>
                <a:lnTo>
                  <a:pt x="0" y="0"/>
                </a:lnTo>
                <a:close/>
              </a:path>
            </a:pathLst>
          </a:custGeom>
          <a:blipFill>
            <a:blip r:embed="rId3">
              <a:alphaModFix amt="9999"/>
            </a:blip>
            <a:stretch>
              <a:fillRect l="-59980" t="-58043" r="-59980" b="-59157"/>
            </a:stretch>
          </a:blipFill>
        </p:spPr>
        <p:txBody>
          <a:bodyPr/>
          <a:lstStyle/>
          <a:p>
            <a:endParaRPr lang="bn-BD"/>
          </a:p>
        </p:txBody>
      </p:sp>
      <p:sp>
        <p:nvSpPr>
          <p:cNvPr id="53" name="TextBox 12">
            <a:extLst>
              <a:ext uri="{FF2B5EF4-FFF2-40B4-BE49-F238E27FC236}">
                <a16:creationId xmlns:a16="http://schemas.microsoft.com/office/drawing/2014/main" id="{9110700C-36B5-A614-3990-9858BAF5F30E}"/>
              </a:ext>
            </a:extLst>
          </p:cNvPr>
          <p:cNvSpPr txBox="1"/>
          <p:nvPr/>
        </p:nvSpPr>
        <p:spPr>
          <a:xfrm>
            <a:off x="12698873" y="7410527"/>
            <a:ext cx="1403151" cy="328551"/>
          </a:xfrm>
          <a:prstGeom prst="rect">
            <a:avLst/>
          </a:prstGeom>
        </p:spPr>
        <p:txBody>
          <a:bodyPr lIns="0" tIns="0" rIns="0" bIns="0" rtlCol="0" anchor="t">
            <a:spAutoFit/>
          </a:bodyPr>
          <a:lstStyle/>
          <a:p>
            <a:pPr algn="ctr">
              <a:lnSpc>
                <a:spcPts val="2687"/>
              </a:lnSpc>
              <a:spcBef>
                <a:spcPct val="0"/>
              </a:spcBef>
            </a:pPr>
            <a:r>
              <a:rPr lang="en-US" sz="1919" b="1" dirty="0">
                <a:solidFill>
                  <a:srgbClr val="545454"/>
                </a:solidFill>
                <a:latin typeface="Poppins Bold"/>
                <a:ea typeface="Poppins Bold"/>
                <a:cs typeface="Poppins Bold"/>
                <a:sym typeface="Poppins Bold"/>
              </a:rPr>
              <a:t>12/1/2026</a:t>
            </a:r>
          </a:p>
        </p:txBody>
      </p:sp>
      <p:sp>
        <p:nvSpPr>
          <p:cNvPr id="54" name="TextBox 53">
            <a:extLst>
              <a:ext uri="{FF2B5EF4-FFF2-40B4-BE49-F238E27FC236}">
                <a16:creationId xmlns:a16="http://schemas.microsoft.com/office/drawing/2014/main" id="{98D506D4-51AB-DDA7-80DE-4008ED944288}"/>
              </a:ext>
            </a:extLst>
          </p:cNvPr>
          <p:cNvSpPr txBox="1"/>
          <p:nvPr/>
        </p:nvSpPr>
        <p:spPr>
          <a:xfrm>
            <a:off x="307001" y="7581698"/>
            <a:ext cx="442750" cy="400110"/>
          </a:xfrm>
          <a:prstGeom prst="rect">
            <a:avLst/>
          </a:prstGeom>
          <a:noFill/>
        </p:spPr>
        <p:txBody>
          <a:bodyPr wrap="none" rtlCol="0">
            <a:spAutoFit/>
          </a:bodyPr>
          <a:lstStyle/>
          <a:p>
            <a:r>
              <a:rPr lang="en-US" sz="2000" b="1" dirty="0"/>
              <a:t>#6</a:t>
            </a:r>
            <a:endParaRPr lang="bn-BD" sz="20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315750" y="803575"/>
            <a:ext cx="12963882" cy="666512"/>
          </a:xfrm>
          <a:prstGeom prst="rect">
            <a:avLst/>
          </a:prstGeom>
          <a:noFill/>
          <a:ln/>
        </p:spPr>
        <p:txBody>
          <a:bodyPr wrap="none" lIns="0" tIns="0" rIns="0" bIns="0" rtlCol="0" anchor="t"/>
          <a:lstStyle/>
          <a:p>
            <a:pPr marL="0" indent="0" algn="l">
              <a:lnSpc>
                <a:spcPts val="5200"/>
              </a:lnSpc>
              <a:buNone/>
            </a:pPr>
            <a:r>
              <a:rPr lang="en-US" sz="4000" b="1" u="sng" dirty="0">
                <a:solidFill>
                  <a:srgbClr val="000000"/>
                </a:solidFill>
                <a:latin typeface="Poppins Bold" pitchFamily="34" charset="0"/>
                <a:ea typeface="Poppins Bold" pitchFamily="34" charset="-122"/>
                <a:cs typeface="Poppins Bold" pitchFamily="34" charset="-120"/>
              </a:rPr>
              <a:t>Conclusion: A Holistic Mental Health Ecosystem</a:t>
            </a:r>
            <a:endParaRPr lang="en-US" sz="4000" u="sng" dirty="0"/>
          </a:p>
        </p:txBody>
      </p:sp>
      <p:sp>
        <p:nvSpPr>
          <p:cNvPr id="3" name="Shape 1"/>
          <p:cNvSpPr/>
          <p:nvPr/>
        </p:nvSpPr>
        <p:spPr>
          <a:xfrm>
            <a:off x="785813" y="2043351"/>
            <a:ext cx="1632347" cy="1229082"/>
          </a:xfrm>
          <a:prstGeom prst="roundRect">
            <a:avLst>
              <a:gd name="adj" fmla="val 7289"/>
            </a:avLst>
          </a:prstGeom>
          <a:solidFill>
            <a:srgbClr val="FBD3D0"/>
          </a:solidFill>
          <a:ln w="7620">
            <a:solidFill>
              <a:srgbClr val="E1B9B6"/>
            </a:solidFill>
            <a:prstDash val="solid"/>
          </a:ln>
        </p:spPr>
      </p:sp>
      <p:sp>
        <p:nvSpPr>
          <p:cNvPr id="4" name="Text 2"/>
          <p:cNvSpPr/>
          <p:nvPr/>
        </p:nvSpPr>
        <p:spPr>
          <a:xfrm>
            <a:off x="1451967" y="2470428"/>
            <a:ext cx="299918" cy="374928"/>
          </a:xfrm>
          <a:prstGeom prst="rect">
            <a:avLst/>
          </a:prstGeom>
          <a:noFill/>
          <a:ln/>
        </p:spPr>
        <p:txBody>
          <a:bodyPr wrap="none" lIns="0" tIns="0" rIns="0" bIns="0" rtlCol="0" anchor="t"/>
          <a:lstStyle/>
          <a:p>
            <a:pPr marL="0" indent="0" algn="ctr">
              <a:lnSpc>
                <a:spcPts val="3750"/>
              </a:lnSpc>
              <a:buNone/>
            </a:pPr>
            <a:r>
              <a:rPr lang="en-US" sz="2350" b="1" dirty="0">
                <a:solidFill>
                  <a:srgbClr val="000000"/>
                </a:solidFill>
                <a:latin typeface="Poppins Bold" pitchFamily="34" charset="0"/>
                <a:ea typeface="Poppins Bold" pitchFamily="34" charset="-122"/>
                <a:cs typeface="Poppins Bold" pitchFamily="34" charset="-120"/>
              </a:rPr>
              <a:t>1</a:t>
            </a:r>
            <a:endParaRPr lang="en-US" sz="2350" dirty="0"/>
          </a:p>
        </p:txBody>
      </p:sp>
      <p:sp>
        <p:nvSpPr>
          <p:cNvPr id="5" name="Text 3"/>
          <p:cNvSpPr/>
          <p:nvPr/>
        </p:nvSpPr>
        <p:spPr>
          <a:xfrm>
            <a:off x="2631400" y="2256592"/>
            <a:ext cx="2917508" cy="333375"/>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Poppins Bold" pitchFamily="34" charset="0"/>
                <a:ea typeface="Poppins Bold" pitchFamily="34" charset="-122"/>
                <a:cs typeface="Poppins Bold" pitchFamily="34" charset="-120"/>
              </a:rPr>
              <a:t>Empowering Patients</a:t>
            </a:r>
            <a:endParaRPr lang="en-US" sz="2050" dirty="0"/>
          </a:p>
        </p:txBody>
      </p:sp>
      <p:sp>
        <p:nvSpPr>
          <p:cNvPr id="6" name="Text 4"/>
          <p:cNvSpPr/>
          <p:nvPr/>
        </p:nvSpPr>
        <p:spPr>
          <a:xfrm>
            <a:off x="2631400" y="2717840"/>
            <a:ext cx="4986218" cy="341352"/>
          </a:xfrm>
          <a:prstGeom prst="rect">
            <a:avLst/>
          </a:prstGeom>
          <a:noFill/>
          <a:ln/>
        </p:spPr>
        <p:txBody>
          <a:bodyPr wrap="none" lIns="0" tIns="0" rIns="0" bIns="0" rtlCol="0" anchor="t"/>
          <a:lstStyle/>
          <a:p>
            <a:pPr marL="0" indent="0" algn="l">
              <a:lnSpc>
                <a:spcPts val="2650"/>
              </a:lnSpc>
              <a:buNone/>
            </a:pPr>
            <a:r>
              <a:rPr lang="en-US" sz="1650" dirty="0">
                <a:solidFill>
                  <a:srgbClr val="000000"/>
                </a:solidFill>
                <a:latin typeface="Poppins" pitchFamily="34" charset="0"/>
                <a:ea typeface="Poppins" pitchFamily="34" charset="-122"/>
                <a:cs typeface="Poppins" pitchFamily="34" charset="-120"/>
              </a:rPr>
              <a:t>Self-assessment, resources, wellness activities.</a:t>
            </a:r>
            <a:endParaRPr lang="en-US" sz="1650" dirty="0"/>
          </a:p>
        </p:txBody>
      </p:sp>
      <p:sp>
        <p:nvSpPr>
          <p:cNvPr id="7" name="Shape 5"/>
          <p:cNvSpPr/>
          <p:nvPr/>
        </p:nvSpPr>
        <p:spPr>
          <a:xfrm>
            <a:off x="2524720" y="3262908"/>
            <a:ext cx="11213306" cy="11430"/>
          </a:xfrm>
          <a:prstGeom prst="roundRect">
            <a:avLst>
              <a:gd name="adj" fmla="val 783830"/>
            </a:avLst>
          </a:prstGeom>
          <a:solidFill>
            <a:srgbClr val="E1B9B6"/>
          </a:solidFill>
          <a:ln/>
        </p:spPr>
      </p:sp>
      <p:sp>
        <p:nvSpPr>
          <p:cNvPr id="8" name="Shape 6"/>
          <p:cNvSpPr/>
          <p:nvPr/>
        </p:nvSpPr>
        <p:spPr>
          <a:xfrm>
            <a:off x="785813" y="3378994"/>
            <a:ext cx="3264694" cy="1229082"/>
          </a:xfrm>
          <a:prstGeom prst="roundRect">
            <a:avLst>
              <a:gd name="adj" fmla="val 7289"/>
            </a:avLst>
          </a:prstGeom>
          <a:solidFill>
            <a:srgbClr val="FBD3D0"/>
          </a:solidFill>
          <a:ln w="7620">
            <a:solidFill>
              <a:srgbClr val="E1B9B6"/>
            </a:solidFill>
            <a:prstDash val="solid"/>
          </a:ln>
        </p:spPr>
      </p:sp>
      <p:sp>
        <p:nvSpPr>
          <p:cNvPr id="9" name="Text 7"/>
          <p:cNvSpPr/>
          <p:nvPr/>
        </p:nvSpPr>
        <p:spPr>
          <a:xfrm>
            <a:off x="2268141" y="3806071"/>
            <a:ext cx="299918" cy="374928"/>
          </a:xfrm>
          <a:prstGeom prst="rect">
            <a:avLst/>
          </a:prstGeom>
          <a:noFill/>
          <a:ln/>
        </p:spPr>
        <p:txBody>
          <a:bodyPr wrap="none" lIns="0" tIns="0" rIns="0" bIns="0" rtlCol="0" anchor="t"/>
          <a:lstStyle/>
          <a:p>
            <a:pPr marL="0" indent="0" algn="ctr">
              <a:lnSpc>
                <a:spcPts val="3750"/>
              </a:lnSpc>
              <a:buNone/>
            </a:pPr>
            <a:r>
              <a:rPr lang="en-US" sz="2350" b="1" dirty="0">
                <a:solidFill>
                  <a:srgbClr val="000000"/>
                </a:solidFill>
                <a:latin typeface="Poppins Bold" pitchFamily="34" charset="0"/>
                <a:ea typeface="Poppins Bold" pitchFamily="34" charset="-122"/>
                <a:cs typeface="Poppins Bold" pitchFamily="34" charset="-120"/>
              </a:rPr>
              <a:t>2</a:t>
            </a:r>
            <a:endParaRPr lang="en-US" sz="2350" dirty="0"/>
          </a:p>
        </p:txBody>
      </p:sp>
      <p:sp>
        <p:nvSpPr>
          <p:cNvPr id="10" name="Text 8"/>
          <p:cNvSpPr/>
          <p:nvPr/>
        </p:nvSpPr>
        <p:spPr>
          <a:xfrm>
            <a:off x="4263747" y="3592235"/>
            <a:ext cx="2666405" cy="333375"/>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Poppins Bold" pitchFamily="34" charset="0"/>
                <a:ea typeface="Poppins Bold" pitchFamily="34" charset="-122"/>
                <a:cs typeface="Poppins Bold" pitchFamily="34" charset="-120"/>
              </a:rPr>
              <a:t>Efficient Care</a:t>
            </a:r>
            <a:endParaRPr lang="en-US" sz="2050" dirty="0"/>
          </a:p>
        </p:txBody>
      </p:sp>
      <p:sp>
        <p:nvSpPr>
          <p:cNvPr id="11" name="Text 9"/>
          <p:cNvSpPr/>
          <p:nvPr/>
        </p:nvSpPr>
        <p:spPr>
          <a:xfrm>
            <a:off x="4263747" y="4053483"/>
            <a:ext cx="5209937" cy="341352"/>
          </a:xfrm>
          <a:prstGeom prst="rect">
            <a:avLst/>
          </a:prstGeom>
          <a:noFill/>
          <a:ln/>
        </p:spPr>
        <p:txBody>
          <a:bodyPr wrap="none" lIns="0" tIns="0" rIns="0" bIns="0" rtlCol="0" anchor="t"/>
          <a:lstStyle/>
          <a:p>
            <a:pPr marL="0" indent="0" algn="l">
              <a:lnSpc>
                <a:spcPts val="2650"/>
              </a:lnSpc>
              <a:buNone/>
            </a:pPr>
            <a:r>
              <a:rPr lang="en-US" sz="1650" dirty="0">
                <a:solidFill>
                  <a:srgbClr val="000000"/>
                </a:solidFill>
                <a:latin typeface="Poppins" pitchFamily="34" charset="0"/>
                <a:ea typeface="Poppins" pitchFamily="34" charset="-122"/>
                <a:cs typeface="Poppins" pitchFamily="34" charset="-120"/>
              </a:rPr>
              <a:t>Streamlined appointments, history, prescriptions.</a:t>
            </a:r>
            <a:endParaRPr lang="en-US" sz="1650" dirty="0"/>
          </a:p>
        </p:txBody>
      </p:sp>
      <p:sp>
        <p:nvSpPr>
          <p:cNvPr id="12" name="Shape 10"/>
          <p:cNvSpPr/>
          <p:nvPr/>
        </p:nvSpPr>
        <p:spPr>
          <a:xfrm>
            <a:off x="4157067" y="4598551"/>
            <a:ext cx="9580959" cy="11430"/>
          </a:xfrm>
          <a:prstGeom prst="roundRect">
            <a:avLst>
              <a:gd name="adj" fmla="val 783830"/>
            </a:avLst>
          </a:prstGeom>
          <a:solidFill>
            <a:srgbClr val="E1B9B6"/>
          </a:solidFill>
          <a:ln/>
        </p:spPr>
      </p:sp>
      <p:sp>
        <p:nvSpPr>
          <p:cNvPr id="13" name="Shape 11"/>
          <p:cNvSpPr/>
          <p:nvPr/>
        </p:nvSpPr>
        <p:spPr>
          <a:xfrm>
            <a:off x="785813" y="4714637"/>
            <a:ext cx="4897041" cy="1229082"/>
          </a:xfrm>
          <a:prstGeom prst="roundRect">
            <a:avLst>
              <a:gd name="adj" fmla="val 7289"/>
            </a:avLst>
          </a:prstGeom>
          <a:solidFill>
            <a:srgbClr val="FBD3D0"/>
          </a:solidFill>
          <a:ln w="7620">
            <a:solidFill>
              <a:srgbClr val="E1B9B6"/>
            </a:solidFill>
            <a:prstDash val="solid"/>
          </a:ln>
        </p:spPr>
      </p:sp>
      <p:sp>
        <p:nvSpPr>
          <p:cNvPr id="14" name="Text 12"/>
          <p:cNvSpPr/>
          <p:nvPr/>
        </p:nvSpPr>
        <p:spPr>
          <a:xfrm>
            <a:off x="3084314" y="5141714"/>
            <a:ext cx="299918" cy="374928"/>
          </a:xfrm>
          <a:prstGeom prst="rect">
            <a:avLst/>
          </a:prstGeom>
          <a:noFill/>
          <a:ln/>
        </p:spPr>
        <p:txBody>
          <a:bodyPr wrap="none" lIns="0" tIns="0" rIns="0" bIns="0" rtlCol="0" anchor="t"/>
          <a:lstStyle/>
          <a:p>
            <a:pPr marL="0" indent="0" algn="ctr">
              <a:lnSpc>
                <a:spcPts val="3750"/>
              </a:lnSpc>
              <a:buNone/>
            </a:pPr>
            <a:r>
              <a:rPr lang="en-US" sz="2350" b="1" dirty="0">
                <a:solidFill>
                  <a:srgbClr val="000000"/>
                </a:solidFill>
                <a:latin typeface="Poppins Bold" pitchFamily="34" charset="0"/>
                <a:ea typeface="Poppins Bold" pitchFamily="34" charset="-122"/>
                <a:cs typeface="Poppins Bold" pitchFamily="34" charset="-120"/>
              </a:rPr>
              <a:t>3</a:t>
            </a:r>
            <a:endParaRPr lang="en-US" sz="2350" dirty="0"/>
          </a:p>
        </p:txBody>
      </p:sp>
      <p:sp>
        <p:nvSpPr>
          <p:cNvPr id="15" name="Text 13"/>
          <p:cNvSpPr/>
          <p:nvPr/>
        </p:nvSpPr>
        <p:spPr>
          <a:xfrm>
            <a:off x="5896094" y="4927878"/>
            <a:ext cx="2756535" cy="333375"/>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Poppins Bold" pitchFamily="34" charset="0"/>
                <a:ea typeface="Poppins Bold" pitchFamily="34" charset="-122"/>
                <a:cs typeface="Poppins Bold" pitchFamily="34" charset="-120"/>
              </a:rPr>
              <a:t>Secure &amp; Accessible</a:t>
            </a:r>
            <a:endParaRPr lang="en-US" sz="2050" dirty="0"/>
          </a:p>
        </p:txBody>
      </p:sp>
      <p:sp>
        <p:nvSpPr>
          <p:cNvPr id="16" name="Text 14"/>
          <p:cNvSpPr/>
          <p:nvPr/>
        </p:nvSpPr>
        <p:spPr>
          <a:xfrm>
            <a:off x="5896094" y="5389126"/>
            <a:ext cx="4600099" cy="341352"/>
          </a:xfrm>
          <a:prstGeom prst="rect">
            <a:avLst/>
          </a:prstGeom>
          <a:noFill/>
          <a:ln/>
        </p:spPr>
        <p:txBody>
          <a:bodyPr wrap="none" lIns="0" tIns="0" rIns="0" bIns="0" rtlCol="0" anchor="t"/>
          <a:lstStyle/>
          <a:p>
            <a:pPr marL="0" indent="0" algn="l">
              <a:lnSpc>
                <a:spcPts val="2650"/>
              </a:lnSpc>
              <a:buNone/>
            </a:pPr>
            <a:r>
              <a:rPr lang="en-US" sz="1650" dirty="0">
                <a:solidFill>
                  <a:srgbClr val="000000"/>
                </a:solidFill>
                <a:latin typeface="Poppins" pitchFamily="34" charset="0"/>
                <a:ea typeface="Poppins" pitchFamily="34" charset="-122"/>
                <a:cs typeface="Poppins" pitchFamily="34" charset="-120"/>
              </a:rPr>
              <a:t>Technology, privacy, professional expertise.</a:t>
            </a:r>
            <a:endParaRPr lang="en-US" sz="1650" dirty="0"/>
          </a:p>
        </p:txBody>
      </p:sp>
      <p:sp>
        <p:nvSpPr>
          <p:cNvPr id="17" name="Shape 15"/>
          <p:cNvSpPr/>
          <p:nvPr/>
        </p:nvSpPr>
        <p:spPr>
          <a:xfrm>
            <a:off x="5789414" y="5934194"/>
            <a:ext cx="7948613" cy="11430"/>
          </a:xfrm>
          <a:prstGeom prst="roundRect">
            <a:avLst>
              <a:gd name="adj" fmla="val 783830"/>
            </a:avLst>
          </a:prstGeom>
          <a:solidFill>
            <a:srgbClr val="E1B9B6"/>
          </a:solidFill>
          <a:ln/>
        </p:spPr>
      </p:sp>
      <p:sp>
        <p:nvSpPr>
          <p:cNvPr id="18" name="Shape 16"/>
          <p:cNvSpPr/>
          <p:nvPr/>
        </p:nvSpPr>
        <p:spPr>
          <a:xfrm>
            <a:off x="785813" y="6050280"/>
            <a:ext cx="6529388" cy="1229082"/>
          </a:xfrm>
          <a:prstGeom prst="roundRect">
            <a:avLst>
              <a:gd name="adj" fmla="val 7289"/>
            </a:avLst>
          </a:prstGeom>
          <a:solidFill>
            <a:srgbClr val="FBD3D0"/>
          </a:solidFill>
          <a:ln w="7620">
            <a:solidFill>
              <a:srgbClr val="E1B9B6"/>
            </a:solidFill>
            <a:prstDash val="solid"/>
          </a:ln>
        </p:spPr>
      </p:sp>
      <p:sp>
        <p:nvSpPr>
          <p:cNvPr id="19" name="Text 17"/>
          <p:cNvSpPr/>
          <p:nvPr/>
        </p:nvSpPr>
        <p:spPr>
          <a:xfrm>
            <a:off x="3900488" y="6477357"/>
            <a:ext cx="299918" cy="374928"/>
          </a:xfrm>
          <a:prstGeom prst="rect">
            <a:avLst/>
          </a:prstGeom>
          <a:noFill/>
          <a:ln/>
        </p:spPr>
        <p:txBody>
          <a:bodyPr wrap="none" lIns="0" tIns="0" rIns="0" bIns="0" rtlCol="0" anchor="t"/>
          <a:lstStyle/>
          <a:p>
            <a:pPr marL="0" indent="0" algn="ctr">
              <a:lnSpc>
                <a:spcPts val="3750"/>
              </a:lnSpc>
              <a:buNone/>
            </a:pPr>
            <a:r>
              <a:rPr lang="en-US" sz="2350" b="1" dirty="0">
                <a:solidFill>
                  <a:srgbClr val="000000"/>
                </a:solidFill>
                <a:latin typeface="Poppins Bold" pitchFamily="34" charset="0"/>
                <a:ea typeface="Poppins Bold" pitchFamily="34" charset="-122"/>
                <a:cs typeface="Poppins Bold" pitchFamily="34" charset="-120"/>
              </a:rPr>
              <a:t>4</a:t>
            </a:r>
            <a:endParaRPr lang="en-US" sz="2350" dirty="0"/>
          </a:p>
        </p:txBody>
      </p:sp>
      <p:sp>
        <p:nvSpPr>
          <p:cNvPr id="20" name="Text 18"/>
          <p:cNvSpPr/>
          <p:nvPr/>
        </p:nvSpPr>
        <p:spPr>
          <a:xfrm>
            <a:off x="7528441" y="6263521"/>
            <a:ext cx="2666405" cy="333375"/>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Poppins Bold" pitchFamily="34" charset="0"/>
                <a:ea typeface="Poppins Bold" pitchFamily="34" charset="-122"/>
                <a:cs typeface="Poppins Bold" pitchFamily="34" charset="-120"/>
              </a:rPr>
              <a:t>Meaningful Impact</a:t>
            </a:r>
            <a:endParaRPr lang="en-US" sz="2050" dirty="0"/>
          </a:p>
        </p:txBody>
      </p:sp>
      <p:sp>
        <p:nvSpPr>
          <p:cNvPr id="21" name="Text 19"/>
          <p:cNvSpPr/>
          <p:nvPr/>
        </p:nvSpPr>
        <p:spPr>
          <a:xfrm>
            <a:off x="7528441" y="6724769"/>
            <a:ext cx="5727025" cy="341352"/>
          </a:xfrm>
          <a:prstGeom prst="rect">
            <a:avLst/>
          </a:prstGeom>
          <a:noFill/>
          <a:ln/>
        </p:spPr>
        <p:txBody>
          <a:bodyPr wrap="none" lIns="0" tIns="0" rIns="0" bIns="0" rtlCol="0" anchor="t"/>
          <a:lstStyle/>
          <a:p>
            <a:pPr marL="0" indent="0" algn="l">
              <a:lnSpc>
                <a:spcPts val="2650"/>
              </a:lnSpc>
              <a:buNone/>
            </a:pPr>
            <a:r>
              <a:rPr lang="en-US" sz="1650" dirty="0">
                <a:solidFill>
                  <a:srgbClr val="000000"/>
                </a:solidFill>
                <a:latin typeface="Poppins" pitchFamily="34" charset="0"/>
                <a:ea typeface="Poppins" pitchFamily="34" charset="-122"/>
                <a:cs typeface="Poppins" pitchFamily="34" charset="-120"/>
              </a:rPr>
              <a:t>Reduces stigma, improves access, ensures continuity.</a:t>
            </a:r>
            <a:endParaRPr lang="en-US" sz="1650" dirty="0"/>
          </a:p>
        </p:txBody>
      </p:sp>
      <p:sp>
        <p:nvSpPr>
          <p:cNvPr id="22" name="Rectangle 21">
            <a:extLst>
              <a:ext uri="{FF2B5EF4-FFF2-40B4-BE49-F238E27FC236}">
                <a16:creationId xmlns:a16="http://schemas.microsoft.com/office/drawing/2014/main" id="{6934F818-7719-C01F-D83C-B85BA4C67B84}"/>
              </a:ext>
            </a:extLst>
          </p:cNvPr>
          <p:cNvSpPr/>
          <p:nvPr/>
        </p:nvSpPr>
        <p:spPr>
          <a:xfrm>
            <a:off x="12801600" y="7652657"/>
            <a:ext cx="1992086" cy="576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13">
            <a:extLst>
              <a:ext uri="{FF2B5EF4-FFF2-40B4-BE49-F238E27FC236}">
                <a16:creationId xmlns:a16="http://schemas.microsoft.com/office/drawing/2014/main" id="{548166D7-1487-61B9-F8BC-7DD0600BB017}"/>
              </a:ext>
            </a:extLst>
          </p:cNvPr>
          <p:cNvSpPr/>
          <p:nvPr/>
        </p:nvSpPr>
        <p:spPr>
          <a:xfrm>
            <a:off x="5168432" y="1940752"/>
            <a:ext cx="4293537" cy="4348098"/>
          </a:xfrm>
          <a:custGeom>
            <a:avLst/>
            <a:gdLst/>
            <a:ahLst/>
            <a:cxnLst/>
            <a:rect l="l" t="t" r="r" b="b"/>
            <a:pathLst>
              <a:path w="5366921" h="5435123">
                <a:moveTo>
                  <a:pt x="0" y="0"/>
                </a:moveTo>
                <a:lnTo>
                  <a:pt x="5366922" y="0"/>
                </a:lnTo>
                <a:lnTo>
                  <a:pt x="5366922" y="5435122"/>
                </a:lnTo>
                <a:lnTo>
                  <a:pt x="0" y="5435122"/>
                </a:lnTo>
                <a:lnTo>
                  <a:pt x="0" y="0"/>
                </a:lnTo>
                <a:close/>
              </a:path>
            </a:pathLst>
          </a:custGeom>
          <a:blipFill>
            <a:blip r:embed="rId3">
              <a:alphaModFix amt="9999"/>
            </a:blip>
            <a:stretch>
              <a:fillRect l="-59980" t="-58043" r="-59980" b="-59157"/>
            </a:stretch>
          </a:blipFill>
        </p:spPr>
      </p:sp>
      <p:sp>
        <p:nvSpPr>
          <p:cNvPr id="24" name="TextBox 12">
            <a:extLst>
              <a:ext uri="{FF2B5EF4-FFF2-40B4-BE49-F238E27FC236}">
                <a16:creationId xmlns:a16="http://schemas.microsoft.com/office/drawing/2014/main" id="{4FC90DEF-8FA4-76B8-0C84-49D6F3FDE48D}"/>
              </a:ext>
            </a:extLst>
          </p:cNvPr>
          <p:cNvSpPr txBox="1"/>
          <p:nvPr/>
        </p:nvSpPr>
        <p:spPr>
          <a:xfrm>
            <a:off x="12698873" y="7410527"/>
            <a:ext cx="1403151" cy="328551"/>
          </a:xfrm>
          <a:prstGeom prst="rect">
            <a:avLst/>
          </a:prstGeom>
        </p:spPr>
        <p:txBody>
          <a:bodyPr lIns="0" tIns="0" rIns="0" bIns="0" rtlCol="0" anchor="t">
            <a:spAutoFit/>
          </a:bodyPr>
          <a:lstStyle/>
          <a:p>
            <a:pPr algn="ctr">
              <a:lnSpc>
                <a:spcPts val="2687"/>
              </a:lnSpc>
              <a:spcBef>
                <a:spcPct val="0"/>
              </a:spcBef>
            </a:pPr>
            <a:r>
              <a:rPr lang="en-US" sz="1919" b="1" dirty="0">
                <a:solidFill>
                  <a:srgbClr val="545454"/>
                </a:solidFill>
                <a:latin typeface="Poppins Bold"/>
                <a:ea typeface="Poppins Bold"/>
                <a:cs typeface="Poppins Bold"/>
                <a:sym typeface="Poppins Bold"/>
              </a:rPr>
              <a:t>12/1/2026</a:t>
            </a:r>
          </a:p>
        </p:txBody>
      </p:sp>
      <p:sp>
        <p:nvSpPr>
          <p:cNvPr id="25" name="TextBox 24">
            <a:extLst>
              <a:ext uri="{FF2B5EF4-FFF2-40B4-BE49-F238E27FC236}">
                <a16:creationId xmlns:a16="http://schemas.microsoft.com/office/drawing/2014/main" id="{B0FAE6B4-44BC-CBA7-FA3A-7B7A9F11E54A}"/>
              </a:ext>
            </a:extLst>
          </p:cNvPr>
          <p:cNvSpPr txBox="1"/>
          <p:nvPr/>
        </p:nvSpPr>
        <p:spPr>
          <a:xfrm>
            <a:off x="307001" y="7581698"/>
            <a:ext cx="442750" cy="400110"/>
          </a:xfrm>
          <a:prstGeom prst="rect">
            <a:avLst/>
          </a:prstGeom>
          <a:noFill/>
        </p:spPr>
        <p:txBody>
          <a:bodyPr wrap="none" rtlCol="0">
            <a:spAutoFit/>
          </a:bodyPr>
          <a:lstStyle/>
          <a:p>
            <a:r>
              <a:rPr lang="en-US" sz="2000" b="1" dirty="0"/>
              <a:t>#7</a:t>
            </a:r>
            <a:endParaRPr lang="bn-BD" sz="20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B8D43E-D850-193D-4319-90E36B160934}"/>
              </a:ext>
            </a:extLst>
          </p:cNvPr>
          <p:cNvSpPr txBox="1"/>
          <p:nvPr/>
        </p:nvSpPr>
        <p:spPr>
          <a:xfrm>
            <a:off x="5196469" y="3653135"/>
            <a:ext cx="7538224" cy="923330"/>
          </a:xfrm>
          <a:prstGeom prst="rect">
            <a:avLst/>
          </a:prstGeom>
          <a:noFill/>
        </p:spPr>
        <p:txBody>
          <a:bodyPr wrap="square">
            <a:spAutoFit/>
          </a:bodyPr>
          <a:lstStyle/>
          <a:p>
            <a:r>
              <a:rPr lang="en-US" sz="5400" b="1" dirty="0"/>
              <a:t>Thank you </a:t>
            </a:r>
            <a:endParaRPr lang="bn-BD" sz="5400" b="1" dirty="0"/>
          </a:p>
        </p:txBody>
      </p:sp>
      <p:sp>
        <p:nvSpPr>
          <p:cNvPr id="5" name="Freeform 13">
            <a:extLst>
              <a:ext uri="{FF2B5EF4-FFF2-40B4-BE49-F238E27FC236}">
                <a16:creationId xmlns:a16="http://schemas.microsoft.com/office/drawing/2014/main" id="{853730F2-BDDD-9134-9836-5878DFD99170}"/>
              </a:ext>
            </a:extLst>
          </p:cNvPr>
          <p:cNvSpPr/>
          <p:nvPr/>
        </p:nvSpPr>
        <p:spPr>
          <a:xfrm>
            <a:off x="4477057" y="1940751"/>
            <a:ext cx="4293537" cy="4348098"/>
          </a:xfrm>
          <a:custGeom>
            <a:avLst/>
            <a:gdLst/>
            <a:ahLst/>
            <a:cxnLst/>
            <a:rect l="l" t="t" r="r" b="b"/>
            <a:pathLst>
              <a:path w="5366921" h="5435123">
                <a:moveTo>
                  <a:pt x="0" y="0"/>
                </a:moveTo>
                <a:lnTo>
                  <a:pt x="5366922" y="0"/>
                </a:lnTo>
                <a:lnTo>
                  <a:pt x="5366922" y="5435122"/>
                </a:lnTo>
                <a:lnTo>
                  <a:pt x="0" y="5435122"/>
                </a:lnTo>
                <a:lnTo>
                  <a:pt x="0" y="0"/>
                </a:lnTo>
                <a:close/>
              </a:path>
            </a:pathLst>
          </a:custGeom>
          <a:blipFill>
            <a:blip r:embed="rId2">
              <a:alphaModFix amt="9999"/>
            </a:blip>
            <a:stretch>
              <a:fillRect l="-59980" t="-58043" r="-59980" b="-59157"/>
            </a:stretch>
          </a:blipFill>
        </p:spPr>
      </p:sp>
      <p:sp>
        <p:nvSpPr>
          <p:cNvPr id="6" name="TextBox 12">
            <a:extLst>
              <a:ext uri="{FF2B5EF4-FFF2-40B4-BE49-F238E27FC236}">
                <a16:creationId xmlns:a16="http://schemas.microsoft.com/office/drawing/2014/main" id="{D8D03AF5-B9A9-0C46-6EE6-220F431B82DE}"/>
              </a:ext>
            </a:extLst>
          </p:cNvPr>
          <p:cNvSpPr txBox="1"/>
          <p:nvPr/>
        </p:nvSpPr>
        <p:spPr>
          <a:xfrm>
            <a:off x="12698873" y="7410527"/>
            <a:ext cx="1403151" cy="328551"/>
          </a:xfrm>
          <a:prstGeom prst="rect">
            <a:avLst/>
          </a:prstGeom>
        </p:spPr>
        <p:txBody>
          <a:bodyPr lIns="0" tIns="0" rIns="0" bIns="0" rtlCol="0" anchor="t">
            <a:spAutoFit/>
          </a:bodyPr>
          <a:lstStyle/>
          <a:p>
            <a:pPr algn="ctr">
              <a:lnSpc>
                <a:spcPts val="2687"/>
              </a:lnSpc>
              <a:spcBef>
                <a:spcPct val="0"/>
              </a:spcBef>
            </a:pPr>
            <a:r>
              <a:rPr lang="en-US" sz="1919" b="1" dirty="0">
                <a:solidFill>
                  <a:srgbClr val="545454"/>
                </a:solidFill>
                <a:latin typeface="Poppins Bold"/>
                <a:ea typeface="Poppins Bold"/>
                <a:cs typeface="Poppins Bold"/>
                <a:sym typeface="Poppins Bold"/>
              </a:rPr>
              <a:t>12/1/2026</a:t>
            </a:r>
          </a:p>
        </p:txBody>
      </p:sp>
    </p:spTree>
    <p:extLst>
      <p:ext uri="{BB962C8B-B14F-4D97-AF65-F5344CB8AC3E}">
        <p14:creationId xmlns:p14="http://schemas.microsoft.com/office/powerpoint/2010/main" val="1919635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461</Words>
  <Application>Microsoft Office PowerPoint</Application>
  <PresentationFormat>Custom</PresentationFormat>
  <Paragraphs>107</Paragraphs>
  <Slides>9</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Poppins</vt:lpstr>
      <vt:lpstr>Arial</vt:lpstr>
      <vt:lpstr>Poppins Bold</vt:lpstr>
      <vt:lpstr>YAFdJjbTu24_1</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HP</dc:creator>
  <cp:lastModifiedBy>maimuna nisa</cp:lastModifiedBy>
  <cp:revision>23</cp:revision>
  <dcterms:created xsi:type="dcterms:W3CDTF">2025-09-20T20:48:09Z</dcterms:created>
  <dcterms:modified xsi:type="dcterms:W3CDTF">2026-01-12T05:24:04Z</dcterms:modified>
</cp:coreProperties>
</file>